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1" d="100"/>
          <a:sy n="91" d="100"/>
        </p:scale>
        <p:origin x="37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2/12/2026</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2/12/2026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2/12/2026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2/12/2026</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208A09-A956-FCD3-49DF-2BCE667B1E16}"/>
              </a:ext>
            </a:extLst>
          </p:cNvPr>
          <p:cNvSpPr txBox="1"/>
          <p:nvPr/>
        </p:nvSpPr>
        <p:spPr>
          <a:xfrm>
            <a:off x="1907459" y="668595"/>
            <a:ext cx="8170606" cy="830997"/>
          </a:xfrm>
          <a:prstGeom prst="rect">
            <a:avLst/>
          </a:prstGeom>
          <a:noFill/>
        </p:spPr>
        <p:txBody>
          <a:bodyPr wrap="square" rtlCol="0">
            <a:spAutoFit/>
          </a:bodyPr>
          <a:lstStyle/>
          <a:p>
            <a:pPr algn="ctr"/>
            <a:r>
              <a:rPr lang="en-US" sz="4800" b="1" dirty="0"/>
              <a:t>Financial Transaction Dataset</a:t>
            </a:r>
            <a:endParaRPr lang="en-IN" sz="4800" b="1" dirty="0"/>
          </a:p>
        </p:txBody>
      </p:sp>
      <p:pic>
        <p:nvPicPr>
          <p:cNvPr id="7" name="Picture 6">
            <a:extLst>
              <a:ext uri="{FF2B5EF4-FFF2-40B4-BE49-F238E27FC236}">
                <a16:creationId xmlns:a16="http://schemas.microsoft.com/office/drawing/2014/main" id="{96C80309-0997-36EB-063E-F40C1C648F15}"/>
              </a:ext>
            </a:extLst>
          </p:cNvPr>
          <p:cNvPicPr>
            <a:picLocks noChangeAspect="1"/>
          </p:cNvPicPr>
          <p:nvPr/>
        </p:nvPicPr>
        <p:blipFill>
          <a:blip r:embed="rId2"/>
          <a:stretch>
            <a:fillRect/>
          </a:stretch>
        </p:blipFill>
        <p:spPr>
          <a:xfrm>
            <a:off x="2363230" y="1966452"/>
            <a:ext cx="7259063" cy="4454341"/>
          </a:xfrm>
          <a:prstGeom prst="rect">
            <a:avLst/>
          </a:prstGeom>
        </p:spPr>
      </p:pic>
    </p:spTree>
    <p:extLst>
      <p:ext uri="{BB962C8B-B14F-4D97-AF65-F5344CB8AC3E}">
        <p14:creationId xmlns:p14="http://schemas.microsoft.com/office/powerpoint/2010/main" val="3676514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818222B-B8C2-1427-FAFC-98553D434AA5}"/>
              </a:ext>
            </a:extLst>
          </p:cNvPr>
          <p:cNvSpPr txBox="1"/>
          <p:nvPr/>
        </p:nvSpPr>
        <p:spPr>
          <a:xfrm>
            <a:off x="176981" y="1674674"/>
            <a:ext cx="10402529" cy="1754326"/>
          </a:xfrm>
          <a:prstGeom prst="rect">
            <a:avLst/>
          </a:prstGeom>
          <a:noFill/>
        </p:spPr>
        <p:txBody>
          <a:bodyPr wrap="square" rtlCol="0">
            <a:spAutoFit/>
          </a:bodyPr>
          <a:lstStyle/>
          <a:p>
            <a:pPr marL="1657350" lvl="3" indent="-285750">
              <a:buFont typeface="Arial" panose="020B0604020202020204" pitchFamily="34" charset="0"/>
              <a:buChar char="•"/>
            </a:pPr>
            <a:r>
              <a:rPr lang="en-US" dirty="0"/>
              <a:t>The purpose of this project is to use power BI to transform financial data into interactive visual dashboards that helps analyze customer profiles, card usage, and transaction behavior in an easy and visual way</a:t>
            </a:r>
          </a:p>
          <a:p>
            <a:pPr marL="1657350" lvl="3" indent="-285750">
              <a:buFont typeface="Arial" panose="020B0604020202020204" pitchFamily="34" charset="0"/>
              <a:buChar char="•"/>
            </a:pPr>
            <a:r>
              <a:rPr lang="en-US" dirty="0"/>
              <a:t>And to analyze customer, card, and transaction data to understand financial behavior , transaction patterns, credit risk , and business performance using data visualizations in power BI</a:t>
            </a:r>
            <a:endParaRPr lang="en-IN" dirty="0"/>
          </a:p>
        </p:txBody>
      </p:sp>
      <p:sp>
        <p:nvSpPr>
          <p:cNvPr id="4" name="TextBox 3">
            <a:extLst>
              <a:ext uri="{FF2B5EF4-FFF2-40B4-BE49-F238E27FC236}">
                <a16:creationId xmlns:a16="http://schemas.microsoft.com/office/drawing/2014/main" id="{48310933-728D-432F-8230-20DC7388BA82}"/>
              </a:ext>
            </a:extLst>
          </p:cNvPr>
          <p:cNvSpPr txBox="1"/>
          <p:nvPr/>
        </p:nvSpPr>
        <p:spPr>
          <a:xfrm>
            <a:off x="1612490" y="3429000"/>
            <a:ext cx="9517626" cy="2308324"/>
          </a:xfrm>
          <a:prstGeom prst="rect">
            <a:avLst/>
          </a:prstGeom>
          <a:noFill/>
        </p:spPr>
        <p:txBody>
          <a:bodyPr wrap="square" rtlCol="0">
            <a:spAutoFit/>
          </a:bodyPr>
          <a:lstStyle/>
          <a:p>
            <a:pPr marL="285750" indent="-285750">
              <a:buFont typeface="Arial" panose="020B0604020202020204" pitchFamily="34" charset="0"/>
              <a:buChar char="•"/>
            </a:pPr>
            <a:r>
              <a:rPr lang="en-US" dirty="0"/>
              <a:t>This project demonstrates how power BI can be used to:</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Convert large financial datasets into meaningful visuals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Monitor key financial metrics at a glance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Support data-driven decision making through dashboards</a:t>
            </a:r>
          </a:p>
          <a:p>
            <a:endParaRPr lang="en-IN" dirty="0"/>
          </a:p>
        </p:txBody>
      </p:sp>
      <p:sp>
        <p:nvSpPr>
          <p:cNvPr id="5" name="TextBox 4">
            <a:extLst>
              <a:ext uri="{FF2B5EF4-FFF2-40B4-BE49-F238E27FC236}">
                <a16:creationId xmlns:a16="http://schemas.microsoft.com/office/drawing/2014/main" id="{38AF9463-E059-2DB1-3673-A4D545895FB2}"/>
              </a:ext>
            </a:extLst>
          </p:cNvPr>
          <p:cNvSpPr txBox="1"/>
          <p:nvPr/>
        </p:nvSpPr>
        <p:spPr>
          <a:xfrm>
            <a:off x="3352800" y="668594"/>
            <a:ext cx="4395019" cy="461665"/>
          </a:xfrm>
          <a:prstGeom prst="rect">
            <a:avLst/>
          </a:prstGeom>
          <a:noFill/>
        </p:spPr>
        <p:txBody>
          <a:bodyPr wrap="square" rtlCol="0">
            <a:spAutoFit/>
          </a:bodyPr>
          <a:lstStyle/>
          <a:p>
            <a:pPr algn="ctr"/>
            <a:r>
              <a:rPr lang="en-US" sz="2400" b="1" dirty="0"/>
              <a:t>Purpose of the project</a:t>
            </a:r>
            <a:endParaRPr lang="en-IN" sz="2400" b="1" dirty="0"/>
          </a:p>
        </p:txBody>
      </p:sp>
    </p:spTree>
    <p:extLst>
      <p:ext uri="{BB962C8B-B14F-4D97-AF65-F5344CB8AC3E}">
        <p14:creationId xmlns:p14="http://schemas.microsoft.com/office/powerpoint/2010/main" val="2126491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5027D4-2CE4-F16A-D689-3B7D29B220DE}"/>
              </a:ext>
            </a:extLst>
          </p:cNvPr>
          <p:cNvSpPr txBox="1"/>
          <p:nvPr/>
        </p:nvSpPr>
        <p:spPr>
          <a:xfrm>
            <a:off x="4493766" y="1022555"/>
            <a:ext cx="3204467" cy="461665"/>
          </a:xfrm>
          <a:prstGeom prst="rect">
            <a:avLst/>
          </a:prstGeom>
          <a:noFill/>
        </p:spPr>
        <p:txBody>
          <a:bodyPr wrap="none" rtlCol="0">
            <a:spAutoFit/>
          </a:bodyPr>
          <a:lstStyle/>
          <a:p>
            <a:r>
              <a:rPr lang="en-US" sz="2400" b="1" dirty="0"/>
              <a:t>Objective of the project</a:t>
            </a:r>
            <a:endParaRPr lang="en-IN" sz="2400" b="1" dirty="0"/>
          </a:p>
        </p:txBody>
      </p:sp>
      <p:sp>
        <p:nvSpPr>
          <p:cNvPr id="7" name="TextBox 6">
            <a:extLst>
              <a:ext uri="{FF2B5EF4-FFF2-40B4-BE49-F238E27FC236}">
                <a16:creationId xmlns:a16="http://schemas.microsoft.com/office/drawing/2014/main" id="{E30B276B-F0E6-F8B1-0215-8FFA53DE65B4}"/>
              </a:ext>
            </a:extLst>
          </p:cNvPr>
          <p:cNvSpPr txBox="1"/>
          <p:nvPr/>
        </p:nvSpPr>
        <p:spPr>
          <a:xfrm>
            <a:off x="1455173" y="2133599"/>
            <a:ext cx="10333703" cy="1477328"/>
          </a:xfrm>
          <a:prstGeom prst="rect">
            <a:avLst/>
          </a:prstGeom>
          <a:noFill/>
        </p:spPr>
        <p:txBody>
          <a:bodyPr wrap="square" rtlCol="0">
            <a:spAutoFit/>
          </a:bodyPr>
          <a:lstStyle/>
          <a:p>
            <a:pPr marL="285750" indent="-285750">
              <a:buFont typeface="Arial" panose="020B0604020202020204" pitchFamily="34" charset="0"/>
              <a:buChar char="•"/>
            </a:pPr>
            <a:r>
              <a:rPr lang="en-US" dirty="0"/>
              <a:t>The main objective of this project is to analyze and visualize users, card and transaction data to gain meaningful insights into spending behavior, card usage patterns, and financial trends.</a:t>
            </a:r>
          </a:p>
          <a:p>
            <a:pPr marL="285750" indent="-285750">
              <a:buFont typeface="Arial" panose="020B0604020202020204" pitchFamily="34" charset="0"/>
              <a:buChar char="•"/>
            </a:pPr>
            <a:r>
              <a:rPr lang="en-US" dirty="0"/>
              <a:t>By integrating users _ data, card _ data and transaction _ data the project aims to:</a:t>
            </a:r>
          </a:p>
          <a:p>
            <a:pPr marL="400050" indent="-400050">
              <a:buFont typeface="+mj-lt"/>
              <a:buAutoNum type="romanUcPeriod"/>
            </a:pPr>
            <a:r>
              <a:rPr lang="en-US" dirty="0"/>
              <a:t>Understand users  demographics and financial profiles</a:t>
            </a:r>
          </a:p>
          <a:p>
            <a:pPr marL="400050" indent="-400050">
              <a:buFont typeface="+mj-lt"/>
              <a:buAutoNum type="romanUcPeriod"/>
            </a:pPr>
            <a:r>
              <a:rPr lang="en-US" dirty="0"/>
              <a:t>Analyze the chart types </a:t>
            </a:r>
            <a:endParaRPr lang="en-IN" dirty="0"/>
          </a:p>
        </p:txBody>
      </p:sp>
    </p:spTree>
    <p:extLst>
      <p:ext uri="{BB962C8B-B14F-4D97-AF65-F5344CB8AC3E}">
        <p14:creationId xmlns:p14="http://schemas.microsoft.com/office/powerpoint/2010/main" val="700143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FD85DD-04A7-2561-BEBF-31A52E0ABA00}"/>
              </a:ext>
            </a:extLst>
          </p:cNvPr>
          <p:cNvSpPr txBox="1"/>
          <p:nvPr/>
        </p:nvSpPr>
        <p:spPr>
          <a:xfrm>
            <a:off x="4056578" y="658763"/>
            <a:ext cx="3774598" cy="461665"/>
          </a:xfrm>
          <a:prstGeom prst="rect">
            <a:avLst/>
          </a:prstGeom>
          <a:noFill/>
        </p:spPr>
        <p:txBody>
          <a:bodyPr wrap="square" rtlCol="0">
            <a:spAutoFit/>
          </a:bodyPr>
          <a:lstStyle/>
          <a:p>
            <a:pPr algn="ctr"/>
            <a:r>
              <a:rPr lang="en-US" sz="2400" b="1" dirty="0"/>
              <a:t>Financial Data Dashboard</a:t>
            </a:r>
            <a:endParaRPr lang="en-IN" sz="2400" b="1" dirty="0"/>
          </a:p>
        </p:txBody>
      </p:sp>
      <p:pic>
        <p:nvPicPr>
          <p:cNvPr id="6" name="Picture 5">
            <a:extLst>
              <a:ext uri="{FF2B5EF4-FFF2-40B4-BE49-F238E27FC236}">
                <a16:creationId xmlns:a16="http://schemas.microsoft.com/office/drawing/2014/main" id="{AC2E84A7-FD63-B09D-4F28-FE926984F7B4}"/>
              </a:ext>
            </a:extLst>
          </p:cNvPr>
          <p:cNvPicPr>
            <a:picLocks noChangeAspect="1"/>
          </p:cNvPicPr>
          <p:nvPr/>
        </p:nvPicPr>
        <p:blipFill>
          <a:blip r:embed="rId2"/>
          <a:stretch>
            <a:fillRect/>
          </a:stretch>
        </p:blipFill>
        <p:spPr>
          <a:xfrm>
            <a:off x="727403" y="2277242"/>
            <a:ext cx="3965556" cy="3572952"/>
          </a:xfrm>
          <a:prstGeom prst="rect">
            <a:avLst/>
          </a:prstGeom>
        </p:spPr>
      </p:pic>
      <p:sp>
        <p:nvSpPr>
          <p:cNvPr id="7" name="TextBox 6">
            <a:extLst>
              <a:ext uri="{FF2B5EF4-FFF2-40B4-BE49-F238E27FC236}">
                <a16:creationId xmlns:a16="http://schemas.microsoft.com/office/drawing/2014/main" id="{FCDBDF77-3773-9391-3767-C31DF04886AD}"/>
              </a:ext>
            </a:extLst>
          </p:cNvPr>
          <p:cNvSpPr txBox="1"/>
          <p:nvPr/>
        </p:nvSpPr>
        <p:spPr>
          <a:xfrm>
            <a:off x="5073444" y="1923280"/>
            <a:ext cx="6735097" cy="3139321"/>
          </a:xfrm>
          <a:prstGeom prst="rect">
            <a:avLst/>
          </a:prstGeom>
          <a:noFill/>
        </p:spPr>
        <p:txBody>
          <a:bodyPr wrap="square" rtlCol="0">
            <a:spAutoFit/>
          </a:bodyPr>
          <a:lstStyle/>
          <a:p>
            <a:pPr marL="285750" indent="-285750">
              <a:buFont typeface="Arial" panose="020B0604020202020204" pitchFamily="34" charset="0"/>
              <a:buChar char="•"/>
            </a:pPr>
            <a:r>
              <a:rPr lang="en-US" dirty="0"/>
              <a:t>This card represents the number of cards issued by each card brand.</a:t>
            </a:r>
          </a:p>
          <a:p>
            <a:pPr marL="285750" indent="-285750">
              <a:buFont typeface="Arial" panose="020B0604020202020204" pitchFamily="34" charset="0"/>
              <a:buChar char="•"/>
            </a:pPr>
            <a:r>
              <a:rPr lang="en-US" dirty="0"/>
              <a:t>This clustered column chart shows the distribution of issued cards</a:t>
            </a:r>
          </a:p>
          <a:p>
            <a:r>
              <a:rPr lang="en-US" dirty="0"/>
              <a:t>      across different card brands, highlighting that Mastercard and visa</a:t>
            </a:r>
          </a:p>
          <a:p>
            <a:r>
              <a:rPr lang="en-US" dirty="0"/>
              <a:t>      are the most widely used brands.  </a:t>
            </a:r>
          </a:p>
          <a:p>
            <a:pPr marL="285750" indent="-285750">
              <a:buFont typeface="Arial" panose="020B0604020202020204" pitchFamily="34" charset="0"/>
              <a:buChar char="•"/>
            </a:pPr>
            <a:r>
              <a:rPr lang="en-US" dirty="0"/>
              <a:t>In this card the Mastercard has the highest number of issued cards</a:t>
            </a:r>
          </a:p>
          <a:p>
            <a:r>
              <a:rPr lang="en-US" dirty="0"/>
              <a:t>      (~3.2k)</a:t>
            </a:r>
          </a:p>
          <a:p>
            <a:pPr marL="285750" indent="-285750">
              <a:buFont typeface="Arial" panose="020B0604020202020204" pitchFamily="34" charset="0"/>
              <a:buChar char="•"/>
            </a:pPr>
            <a:r>
              <a:rPr lang="en-US" dirty="0"/>
              <a:t>Visa is the second highest (~2.3k)</a:t>
            </a:r>
          </a:p>
          <a:p>
            <a:pPr marL="285750" indent="-285750">
              <a:buFont typeface="Arial" panose="020B0604020202020204" pitchFamily="34" charset="0"/>
              <a:buChar char="•"/>
            </a:pPr>
            <a:r>
              <a:rPr lang="en-US" dirty="0"/>
              <a:t>Amex (~0.4k) and Discover(~0.2k) have significantly fewer cards</a:t>
            </a:r>
          </a:p>
          <a:p>
            <a:pPr marL="285750" indent="-285750">
              <a:buFont typeface="Arial" panose="020B0604020202020204" pitchFamily="34" charset="0"/>
              <a:buChar char="•"/>
            </a:pPr>
            <a:r>
              <a:rPr lang="en-US" dirty="0"/>
              <a:t>So, this chart indicates Master and Visa dominate card issuance </a:t>
            </a:r>
          </a:p>
          <a:p>
            <a:r>
              <a:rPr lang="en-US" dirty="0"/>
              <a:t>      in the dataset.  </a:t>
            </a:r>
            <a:endParaRPr lang="en-IN" dirty="0"/>
          </a:p>
        </p:txBody>
      </p:sp>
      <p:sp>
        <p:nvSpPr>
          <p:cNvPr id="8" name="TextBox 7">
            <a:extLst>
              <a:ext uri="{FF2B5EF4-FFF2-40B4-BE49-F238E27FC236}">
                <a16:creationId xmlns:a16="http://schemas.microsoft.com/office/drawing/2014/main" id="{B374DAF5-AA39-1968-4C8D-AA004594A09F}"/>
              </a:ext>
            </a:extLst>
          </p:cNvPr>
          <p:cNvSpPr txBox="1"/>
          <p:nvPr/>
        </p:nvSpPr>
        <p:spPr>
          <a:xfrm>
            <a:off x="1124378" y="1692447"/>
            <a:ext cx="3171605" cy="461665"/>
          </a:xfrm>
          <a:prstGeom prst="rect">
            <a:avLst/>
          </a:prstGeom>
          <a:noFill/>
        </p:spPr>
        <p:txBody>
          <a:bodyPr wrap="square" rtlCol="0">
            <a:spAutoFit/>
          </a:bodyPr>
          <a:lstStyle/>
          <a:p>
            <a:pPr algn="ctr"/>
            <a:r>
              <a:rPr lang="en-US" sz="2400" b="1" dirty="0"/>
              <a:t>Clustered column chart</a:t>
            </a:r>
            <a:endParaRPr lang="en-IN" sz="2400" b="1" dirty="0"/>
          </a:p>
        </p:txBody>
      </p:sp>
      <p:sp>
        <p:nvSpPr>
          <p:cNvPr id="3" name="TextBox 2">
            <a:extLst>
              <a:ext uri="{FF2B5EF4-FFF2-40B4-BE49-F238E27FC236}">
                <a16:creationId xmlns:a16="http://schemas.microsoft.com/office/drawing/2014/main" id="{A90F4670-6995-5654-5756-1F49F3EB59C8}"/>
              </a:ext>
            </a:extLst>
          </p:cNvPr>
          <p:cNvSpPr txBox="1"/>
          <p:nvPr/>
        </p:nvSpPr>
        <p:spPr>
          <a:xfrm>
            <a:off x="1337187" y="1221771"/>
            <a:ext cx="9517626" cy="369332"/>
          </a:xfrm>
          <a:prstGeom prst="rect">
            <a:avLst/>
          </a:prstGeom>
          <a:noFill/>
        </p:spPr>
        <p:txBody>
          <a:bodyPr wrap="square" rtlCol="0">
            <a:spAutoFit/>
          </a:bodyPr>
          <a:lstStyle/>
          <a:p>
            <a:r>
              <a:rPr lang="en-US" b="1" dirty="0"/>
              <a:t>Q.</a:t>
            </a:r>
            <a:r>
              <a:rPr lang="en-US" dirty="0"/>
              <a:t> </a:t>
            </a:r>
            <a:r>
              <a:rPr lang="en-US" b="1" dirty="0"/>
              <a:t>How many cards are issued by each card brand?</a:t>
            </a:r>
            <a:endParaRPr lang="en-IN" b="1" dirty="0"/>
          </a:p>
        </p:txBody>
      </p:sp>
    </p:spTree>
    <p:extLst>
      <p:ext uri="{BB962C8B-B14F-4D97-AF65-F5344CB8AC3E}">
        <p14:creationId xmlns:p14="http://schemas.microsoft.com/office/powerpoint/2010/main" val="3031580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ACC3FB-BE80-66B3-1C91-98637025EBC1}"/>
              </a:ext>
            </a:extLst>
          </p:cNvPr>
          <p:cNvPicPr>
            <a:picLocks noChangeAspect="1"/>
          </p:cNvPicPr>
          <p:nvPr/>
        </p:nvPicPr>
        <p:blipFill>
          <a:blip r:embed="rId2"/>
          <a:stretch>
            <a:fillRect/>
          </a:stretch>
        </p:blipFill>
        <p:spPr>
          <a:xfrm>
            <a:off x="835744" y="1796175"/>
            <a:ext cx="4945625" cy="3630516"/>
          </a:xfrm>
          <a:prstGeom prst="rect">
            <a:avLst/>
          </a:prstGeom>
        </p:spPr>
      </p:pic>
      <p:sp>
        <p:nvSpPr>
          <p:cNvPr id="6" name="TextBox 5">
            <a:extLst>
              <a:ext uri="{FF2B5EF4-FFF2-40B4-BE49-F238E27FC236}">
                <a16:creationId xmlns:a16="http://schemas.microsoft.com/office/drawing/2014/main" id="{26744C1E-723B-BA6B-B6DB-E6CC903DADC5}"/>
              </a:ext>
            </a:extLst>
          </p:cNvPr>
          <p:cNvSpPr txBox="1"/>
          <p:nvPr/>
        </p:nvSpPr>
        <p:spPr>
          <a:xfrm>
            <a:off x="1789472" y="1200476"/>
            <a:ext cx="2281083" cy="461665"/>
          </a:xfrm>
          <a:prstGeom prst="rect">
            <a:avLst/>
          </a:prstGeom>
          <a:noFill/>
        </p:spPr>
        <p:txBody>
          <a:bodyPr wrap="square" rtlCol="0">
            <a:spAutoFit/>
          </a:bodyPr>
          <a:lstStyle/>
          <a:p>
            <a:pPr algn="ctr"/>
            <a:r>
              <a:rPr lang="en-US" sz="2400" b="1" dirty="0"/>
              <a:t>Pie chart</a:t>
            </a:r>
            <a:endParaRPr lang="en-IN" sz="2400" b="1" dirty="0"/>
          </a:p>
        </p:txBody>
      </p:sp>
      <p:sp>
        <p:nvSpPr>
          <p:cNvPr id="7" name="TextBox 6">
            <a:extLst>
              <a:ext uri="{FF2B5EF4-FFF2-40B4-BE49-F238E27FC236}">
                <a16:creationId xmlns:a16="http://schemas.microsoft.com/office/drawing/2014/main" id="{E9395784-867C-8C89-AFD9-B01916AC5D2A}"/>
              </a:ext>
            </a:extLst>
          </p:cNvPr>
          <p:cNvSpPr txBox="1"/>
          <p:nvPr/>
        </p:nvSpPr>
        <p:spPr>
          <a:xfrm>
            <a:off x="6410632" y="1474839"/>
            <a:ext cx="5270090" cy="2031325"/>
          </a:xfrm>
          <a:prstGeom prst="rect">
            <a:avLst/>
          </a:prstGeom>
          <a:noFill/>
        </p:spPr>
        <p:txBody>
          <a:bodyPr wrap="square" rtlCol="0">
            <a:spAutoFit/>
          </a:bodyPr>
          <a:lstStyle/>
          <a:p>
            <a:pPr marL="285750" indent="-285750">
              <a:buFont typeface="Arial" panose="020B0604020202020204" pitchFamily="34" charset="0"/>
              <a:buChar char="•"/>
            </a:pPr>
            <a:r>
              <a:rPr lang="en-US" dirty="0"/>
              <a:t>This pie chart represents the percentage distribution of different card types in the dataset. It shows how the total number of cards is split among various card categories, such as</a:t>
            </a:r>
          </a:p>
          <a:p>
            <a:pPr marL="285750" indent="-285750">
              <a:buFont typeface="Wingdings" panose="05000000000000000000" pitchFamily="2" charset="2"/>
              <a:buChar char="ü"/>
            </a:pPr>
            <a:r>
              <a:rPr lang="en-US" dirty="0"/>
              <a:t>Debit cards</a:t>
            </a:r>
          </a:p>
          <a:p>
            <a:pPr marL="285750" indent="-285750">
              <a:buFont typeface="Wingdings" panose="05000000000000000000" pitchFamily="2" charset="2"/>
              <a:buChar char="ü"/>
            </a:pPr>
            <a:r>
              <a:rPr lang="en-US" dirty="0"/>
              <a:t>Credit cards </a:t>
            </a:r>
          </a:p>
          <a:p>
            <a:pPr marL="285750" indent="-285750">
              <a:buFont typeface="Wingdings" panose="05000000000000000000" pitchFamily="2" charset="2"/>
              <a:buChar char="ü"/>
            </a:pPr>
            <a:r>
              <a:rPr lang="en-US" dirty="0"/>
              <a:t>Debit cards (prepaid)</a:t>
            </a:r>
            <a:endParaRPr lang="en-IN" dirty="0"/>
          </a:p>
        </p:txBody>
      </p:sp>
      <p:sp>
        <p:nvSpPr>
          <p:cNvPr id="2" name="TextBox 1">
            <a:extLst>
              <a:ext uri="{FF2B5EF4-FFF2-40B4-BE49-F238E27FC236}">
                <a16:creationId xmlns:a16="http://schemas.microsoft.com/office/drawing/2014/main" id="{3FF3AEA2-648F-9957-D44D-746E77385784}"/>
              </a:ext>
            </a:extLst>
          </p:cNvPr>
          <p:cNvSpPr txBox="1"/>
          <p:nvPr/>
        </p:nvSpPr>
        <p:spPr>
          <a:xfrm>
            <a:off x="1661651" y="579461"/>
            <a:ext cx="4522007" cy="369332"/>
          </a:xfrm>
          <a:prstGeom prst="rect">
            <a:avLst/>
          </a:prstGeom>
          <a:noFill/>
        </p:spPr>
        <p:txBody>
          <a:bodyPr wrap="none" rtlCol="0">
            <a:spAutoFit/>
          </a:bodyPr>
          <a:lstStyle/>
          <a:p>
            <a:r>
              <a:rPr lang="en-US" b="1" dirty="0"/>
              <a:t>Q. What is the percentage split of card types?</a:t>
            </a:r>
            <a:endParaRPr lang="en-IN" b="1" dirty="0"/>
          </a:p>
        </p:txBody>
      </p:sp>
    </p:spTree>
    <p:extLst>
      <p:ext uri="{BB962C8B-B14F-4D97-AF65-F5344CB8AC3E}">
        <p14:creationId xmlns:p14="http://schemas.microsoft.com/office/powerpoint/2010/main" val="5408980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190F151-EB85-B39D-70A3-AD00B1E7812E}"/>
              </a:ext>
            </a:extLst>
          </p:cNvPr>
          <p:cNvPicPr>
            <a:picLocks noChangeAspect="1"/>
          </p:cNvPicPr>
          <p:nvPr/>
        </p:nvPicPr>
        <p:blipFill>
          <a:blip r:embed="rId2"/>
          <a:stretch>
            <a:fillRect/>
          </a:stretch>
        </p:blipFill>
        <p:spPr>
          <a:xfrm>
            <a:off x="670672" y="1905085"/>
            <a:ext cx="4181545" cy="3284565"/>
          </a:xfrm>
          <a:prstGeom prst="rect">
            <a:avLst/>
          </a:prstGeom>
        </p:spPr>
      </p:pic>
      <p:sp>
        <p:nvSpPr>
          <p:cNvPr id="4" name="TextBox 3">
            <a:extLst>
              <a:ext uri="{FF2B5EF4-FFF2-40B4-BE49-F238E27FC236}">
                <a16:creationId xmlns:a16="http://schemas.microsoft.com/office/drawing/2014/main" id="{1A5D5ACA-2B22-174A-C555-CC6F6A9F33D2}"/>
              </a:ext>
            </a:extLst>
          </p:cNvPr>
          <p:cNvSpPr txBox="1"/>
          <p:nvPr/>
        </p:nvSpPr>
        <p:spPr>
          <a:xfrm>
            <a:off x="1419342" y="1443420"/>
            <a:ext cx="2684207" cy="461665"/>
          </a:xfrm>
          <a:prstGeom prst="rect">
            <a:avLst/>
          </a:prstGeom>
          <a:noFill/>
        </p:spPr>
        <p:txBody>
          <a:bodyPr wrap="square" rtlCol="0">
            <a:spAutoFit/>
          </a:bodyPr>
          <a:lstStyle/>
          <a:p>
            <a:pPr algn="ctr"/>
            <a:r>
              <a:rPr lang="en-US" sz="2400" b="1" dirty="0"/>
              <a:t>Line chart</a:t>
            </a:r>
            <a:endParaRPr lang="en-IN" sz="2400" b="1" dirty="0"/>
          </a:p>
        </p:txBody>
      </p:sp>
      <p:sp>
        <p:nvSpPr>
          <p:cNvPr id="5" name="TextBox 4">
            <a:extLst>
              <a:ext uri="{FF2B5EF4-FFF2-40B4-BE49-F238E27FC236}">
                <a16:creationId xmlns:a16="http://schemas.microsoft.com/office/drawing/2014/main" id="{F51F2A9C-DC5C-246C-3B4C-2FC5B6C88420}"/>
              </a:ext>
            </a:extLst>
          </p:cNvPr>
          <p:cNvSpPr txBox="1"/>
          <p:nvPr/>
        </p:nvSpPr>
        <p:spPr>
          <a:xfrm>
            <a:off x="5742039" y="1769806"/>
            <a:ext cx="6449961" cy="3693319"/>
          </a:xfrm>
          <a:prstGeom prst="rect">
            <a:avLst/>
          </a:prstGeom>
          <a:noFill/>
        </p:spPr>
        <p:txBody>
          <a:bodyPr wrap="square" rtlCol="0">
            <a:spAutoFit/>
          </a:bodyPr>
          <a:lstStyle/>
          <a:p>
            <a:pPr marL="285750" indent="-285750">
              <a:buFont typeface="Arial" panose="020B0604020202020204" pitchFamily="34" charset="0"/>
              <a:buChar char="•"/>
            </a:pPr>
            <a:r>
              <a:rPr lang="en-US" dirty="0"/>
              <a:t>This line chart represents the change in total credit limit over time. It shows how the sum of credit limits issued by the financial institutions has increased or decreased across different years.</a:t>
            </a:r>
          </a:p>
          <a:p>
            <a:pPr marL="285750" indent="-285750">
              <a:buFont typeface="Arial" panose="020B0604020202020204" pitchFamily="34" charset="0"/>
              <a:buChar char="•"/>
            </a:pPr>
            <a:r>
              <a:rPr lang="en-US" dirty="0"/>
              <a:t>The X-axis (year) shows the time period.</a:t>
            </a:r>
          </a:p>
          <a:p>
            <a:pPr marL="285750" indent="-285750">
              <a:buFont typeface="Arial" panose="020B0604020202020204" pitchFamily="34" charset="0"/>
              <a:buChar char="•"/>
            </a:pPr>
            <a:r>
              <a:rPr lang="en-US" dirty="0"/>
              <a:t>The Y-axis (Sum of credit _ limit) shows the total credit limit value.</a:t>
            </a:r>
          </a:p>
          <a:p>
            <a:pPr marL="285750" indent="-285750">
              <a:buFont typeface="Arial" panose="020B0604020202020204" pitchFamily="34" charset="0"/>
              <a:buChar char="•"/>
            </a:pPr>
            <a:r>
              <a:rPr lang="en-US" dirty="0"/>
              <a:t>The line connects yearly values to highlight the trend and fluctuations over time.</a:t>
            </a:r>
          </a:p>
          <a:p>
            <a:pPr marL="285750" indent="-285750">
              <a:buFont typeface="Arial" panose="020B0604020202020204" pitchFamily="34" charset="0"/>
              <a:buChar char="•"/>
            </a:pPr>
            <a:r>
              <a:rPr lang="en-IN" dirty="0"/>
              <a:t>Where this chart means:</a:t>
            </a:r>
          </a:p>
          <a:p>
            <a:pPr marL="285750" indent="-285750">
              <a:buFont typeface="Arial" panose="020B0604020202020204" pitchFamily="34" charset="0"/>
              <a:buChar char="•"/>
            </a:pPr>
            <a:r>
              <a:rPr lang="en-IN" dirty="0"/>
              <a:t>If the line is increasing -&gt; company is issuing more credits</a:t>
            </a:r>
          </a:p>
          <a:p>
            <a:pPr marL="285750" indent="-285750">
              <a:buFont typeface="Arial" panose="020B0604020202020204" pitchFamily="34" charset="0"/>
              <a:buChar char="•"/>
            </a:pPr>
            <a:r>
              <a:rPr lang="en-IN" dirty="0"/>
              <a:t>If the line is decreasing -&gt; credit issuance is reducing</a:t>
            </a:r>
          </a:p>
          <a:p>
            <a:pPr marL="285750" indent="-285750">
              <a:buFont typeface="Arial" panose="020B0604020202020204" pitchFamily="34" charset="0"/>
              <a:buChar char="•"/>
            </a:pPr>
            <a:endParaRPr lang="en-IN" dirty="0"/>
          </a:p>
        </p:txBody>
      </p:sp>
      <p:sp>
        <p:nvSpPr>
          <p:cNvPr id="2" name="TextBox 1">
            <a:extLst>
              <a:ext uri="{FF2B5EF4-FFF2-40B4-BE49-F238E27FC236}">
                <a16:creationId xmlns:a16="http://schemas.microsoft.com/office/drawing/2014/main" id="{EE971C62-7079-5AD0-C036-ACF2F9C6DC37}"/>
              </a:ext>
            </a:extLst>
          </p:cNvPr>
          <p:cNvSpPr txBox="1"/>
          <p:nvPr/>
        </p:nvSpPr>
        <p:spPr>
          <a:xfrm>
            <a:off x="1278194" y="678426"/>
            <a:ext cx="5174815" cy="369332"/>
          </a:xfrm>
          <a:prstGeom prst="rect">
            <a:avLst/>
          </a:prstGeom>
          <a:noFill/>
        </p:spPr>
        <p:txBody>
          <a:bodyPr wrap="none" rtlCol="0">
            <a:spAutoFit/>
          </a:bodyPr>
          <a:lstStyle/>
          <a:p>
            <a:r>
              <a:rPr lang="en-US" b="1" dirty="0"/>
              <a:t>Q. How does the total credit limit change over time?</a:t>
            </a:r>
            <a:endParaRPr lang="en-IN" b="1" dirty="0"/>
          </a:p>
        </p:txBody>
      </p:sp>
    </p:spTree>
    <p:extLst>
      <p:ext uri="{BB962C8B-B14F-4D97-AF65-F5344CB8AC3E}">
        <p14:creationId xmlns:p14="http://schemas.microsoft.com/office/powerpoint/2010/main" val="35677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575BFA-E621-5063-C9C9-DB30D733C52D}"/>
              </a:ext>
            </a:extLst>
          </p:cNvPr>
          <p:cNvPicPr>
            <a:picLocks noChangeAspect="1"/>
          </p:cNvPicPr>
          <p:nvPr/>
        </p:nvPicPr>
        <p:blipFill>
          <a:blip r:embed="rId2"/>
          <a:stretch>
            <a:fillRect/>
          </a:stretch>
        </p:blipFill>
        <p:spPr>
          <a:xfrm>
            <a:off x="1259975" y="2335265"/>
            <a:ext cx="3685168" cy="3180632"/>
          </a:xfrm>
          <a:prstGeom prst="rect">
            <a:avLst/>
          </a:prstGeom>
        </p:spPr>
      </p:pic>
      <p:sp>
        <p:nvSpPr>
          <p:cNvPr id="5" name="TextBox 4">
            <a:extLst>
              <a:ext uri="{FF2B5EF4-FFF2-40B4-BE49-F238E27FC236}">
                <a16:creationId xmlns:a16="http://schemas.microsoft.com/office/drawing/2014/main" id="{107A13F2-7D6C-4127-7940-888838F45BA7}"/>
              </a:ext>
            </a:extLst>
          </p:cNvPr>
          <p:cNvSpPr txBox="1"/>
          <p:nvPr/>
        </p:nvSpPr>
        <p:spPr>
          <a:xfrm>
            <a:off x="1053498" y="1873600"/>
            <a:ext cx="4315398" cy="461665"/>
          </a:xfrm>
          <a:prstGeom prst="rect">
            <a:avLst/>
          </a:prstGeom>
          <a:noFill/>
        </p:spPr>
        <p:txBody>
          <a:bodyPr wrap="square" rtlCol="0">
            <a:spAutoFit/>
          </a:bodyPr>
          <a:lstStyle/>
          <a:p>
            <a:pPr algn="ctr"/>
            <a:r>
              <a:rPr lang="en-US" sz="2400" b="1" dirty="0"/>
              <a:t>Line and Stacked column chart</a:t>
            </a:r>
            <a:endParaRPr lang="en-IN" sz="2400" b="1" dirty="0"/>
          </a:p>
        </p:txBody>
      </p:sp>
      <p:sp>
        <p:nvSpPr>
          <p:cNvPr id="6" name="TextBox 5">
            <a:extLst>
              <a:ext uri="{FF2B5EF4-FFF2-40B4-BE49-F238E27FC236}">
                <a16:creationId xmlns:a16="http://schemas.microsoft.com/office/drawing/2014/main" id="{28318E38-6E42-BC4D-85E3-7D81C2C49535}"/>
              </a:ext>
            </a:extLst>
          </p:cNvPr>
          <p:cNvSpPr txBox="1"/>
          <p:nvPr/>
        </p:nvSpPr>
        <p:spPr>
          <a:xfrm>
            <a:off x="5938684" y="1455369"/>
            <a:ext cx="5850194" cy="5355312"/>
          </a:xfrm>
          <a:prstGeom prst="rect">
            <a:avLst/>
          </a:prstGeom>
          <a:noFill/>
        </p:spPr>
        <p:txBody>
          <a:bodyPr wrap="square" rtlCol="0">
            <a:spAutoFit/>
          </a:bodyPr>
          <a:lstStyle/>
          <a:p>
            <a:pPr marL="285750" indent="-285750">
              <a:buFont typeface="Arial" panose="020B0604020202020204" pitchFamily="34" charset="0"/>
              <a:buChar char="•"/>
            </a:pPr>
            <a:r>
              <a:rPr lang="en-US" dirty="0"/>
              <a:t>This Line and Stacked column chart represents two things at the same time:</a:t>
            </a:r>
          </a:p>
          <a:p>
            <a:pPr marL="342900" indent="-342900">
              <a:buFont typeface="+mj-lt"/>
              <a:buAutoNum type="arabicPeriod"/>
            </a:pPr>
            <a:r>
              <a:rPr lang="en-US" dirty="0"/>
              <a:t>How the total transaction amount changes over time.</a:t>
            </a:r>
          </a:p>
          <a:p>
            <a:pPr marL="342900" indent="-342900">
              <a:buFont typeface="+mj-lt"/>
              <a:buAutoNum type="arabicPeriod"/>
            </a:pPr>
            <a:r>
              <a:rPr lang="en-US" dirty="0"/>
              <a:t>How the total amount is distributed across different merchant states.</a:t>
            </a:r>
          </a:p>
          <a:p>
            <a:pPr marL="285750" indent="-285750">
              <a:buFont typeface="Arial" panose="020B0604020202020204" pitchFamily="34" charset="0"/>
              <a:buChar char="•"/>
            </a:pPr>
            <a:r>
              <a:rPr lang="en-US" dirty="0"/>
              <a:t>This line and stacked column chart shows the total transaction amount over time and how it is distributed across different merchant states. The stacked columns represent state-wise contributions, while the line represents the overall transaction trend. The line  appears as a point because only one year of date is currently displayed.</a:t>
            </a:r>
          </a:p>
          <a:p>
            <a:pPr marL="285750" indent="-285750">
              <a:buFont typeface="Arial" panose="020B0604020202020204" pitchFamily="34" charset="0"/>
              <a:buChar char="•"/>
            </a:pPr>
            <a:r>
              <a:rPr lang="en-US" dirty="0"/>
              <a:t>From this chart we are concluded that whether transactions are increasing.</a:t>
            </a:r>
          </a:p>
          <a:p>
            <a:pPr marL="285750" indent="-285750">
              <a:buFont typeface="Arial" panose="020B0604020202020204" pitchFamily="34" charset="0"/>
              <a:buChar char="•"/>
            </a:pPr>
            <a:r>
              <a:rPr lang="en-US" dirty="0"/>
              <a:t>Decreasing</a:t>
            </a:r>
          </a:p>
          <a:p>
            <a:pPr marL="285750" indent="-285750">
              <a:buFont typeface="Arial" panose="020B0604020202020204" pitchFamily="34" charset="0"/>
              <a:buChar char="•"/>
            </a:pPr>
            <a:r>
              <a:rPr lang="en-US" dirty="0"/>
              <a:t>Or fluctuating</a:t>
            </a:r>
          </a:p>
          <a:p>
            <a:pPr marL="285750" indent="-285750">
              <a:buFont typeface="Arial" panose="020B0604020202020204" pitchFamily="34" charset="0"/>
              <a:buChar char="•"/>
            </a:pPr>
            <a:r>
              <a:rPr lang="en-US" dirty="0"/>
              <a:t>Which state contributes more , which state contributes less.</a:t>
            </a:r>
          </a:p>
          <a:p>
            <a:pPr marL="285750" indent="-285750">
              <a:buFont typeface="Arial" panose="020B0604020202020204" pitchFamily="34" charset="0"/>
              <a:buChar char="•"/>
            </a:pPr>
            <a:endParaRPr lang="en-IN" dirty="0"/>
          </a:p>
        </p:txBody>
      </p:sp>
      <p:sp>
        <p:nvSpPr>
          <p:cNvPr id="2" name="TextBox 1">
            <a:extLst>
              <a:ext uri="{FF2B5EF4-FFF2-40B4-BE49-F238E27FC236}">
                <a16:creationId xmlns:a16="http://schemas.microsoft.com/office/drawing/2014/main" id="{C87A7E1D-35D4-3E70-3C38-E805B995412A}"/>
              </a:ext>
            </a:extLst>
          </p:cNvPr>
          <p:cNvSpPr txBox="1"/>
          <p:nvPr/>
        </p:nvSpPr>
        <p:spPr>
          <a:xfrm>
            <a:off x="1053498" y="776748"/>
            <a:ext cx="10534102" cy="369332"/>
          </a:xfrm>
          <a:prstGeom prst="rect">
            <a:avLst/>
          </a:prstGeom>
          <a:noFill/>
        </p:spPr>
        <p:txBody>
          <a:bodyPr wrap="none" rtlCol="0">
            <a:spAutoFit/>
          </a:bodyPr>
          <a:lstStyle/>
          <a:p>
            <a:r>
              <a:rPr lang="en-US" b="1" dirty="0"/>
              <a:t>Q.</a:t>
            </a:r>
            <a:r>
              <a:rPr lang="en-US" dirty="0"/>
              <a:t> </a:t>
            </a:r>
            <a:r>
              <a:rPr lang="en-US" b="1" dirty="0"/>
              <a:t>How does the total transaction amount change over time and how it is distributed across merchant state?</a:t>
            </a:r>
            <a:endParaRPr lang="en-IN" b="1" dirty="0"/>
          </a:p>
        </p:txBody>
      </p:sp>
    </p:spTree>
    <p:extLst>
      <p:ext uri="{BB962C8B-B14F-4D97-AF65-F5344CB8AC3E}">
        <p14:creationId xmlns:p14="http://schemas.microsoft.com/office/powerpoint/2010/main" val="29777048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2A47F1E-542A-B09D-EBC3-A37F421B787E}"/>
              </a:ext>
            </a:extLst>
          </p:cNvPr>
          <p:cNvPicPr>
            <a:picLocks noChangeAspect="1"/>
          </p:cNvPicPr>
          <p:nvPr/>
        </p:nvPicPr>
        <p:blipFill>
          <a:blip r:embed="rId2"/>
          <a:stretch>
            <a:fillRect/>
          </a:stretch>
        </p:blipFill>
        <p:spPr>
          <a:xfrm>
            <a:off x="1222351" y="2481370"/>
            <a:ext cx="3801932" cy="2669312"/>
          </a:xfrm>
          <a:prstGeom prst="rect">
            <a:avLst/>
          </a:prstGeom>
        </p:spPr>
      </p:pic>
      <p:sp>
        <p:nvSpPr>
          <p:cNvPr id="6" name="TextBox 5">
            <a:extLst>
              <a:ext uri="{FF2B5EF4-FFF2-40B4-BE49-F238E27FC236}">
                <a16:creationId xmlns:a16="http://schemas.microsoft.com/office/drawing/2014/main" id="{EE42F366-2A72-35DF-1DFC-664EBD0BF105}"/>
              </a:ext>
            </a:extLst>
          </p:cNvPr>
          <p:cNvSpPr txBox="1"/>
          <p:nvPr/>
        </p:nvSpPr>
        <p:spPr>
          <a:xfrm>
            <a:off x="1766466" y="2019705"/>
            <a:ext cx="2359742" cy="461665"/>
          </a:xfrm>
          <a:prstGeom prst="rect">
            <a:avLst/>
          </a:prstGeom>
          <a:noFill/>
        </p:spPr>
        <p:txBody>
          <a:bodyPr wrap="square" rtlCol="0">
            <a:spAutoFit/>
          </a:bodyPr>
          <a:lstStyle/>
          <a:p>
            <a:pPr algn="ctr"/>
            <a:r>
              <a:rPr lang="en-US" sz="2400" b="1" dirty="0"/>
              <a:t>Donut chart</a:t>
            </a:r>
            <a:endParaRPr lang="en-IN" sz="2400" b="1" dirty="0"/>
          </a:p>
        </p:txBody>
      </p:sp>
      <p:sp>
        <p:nvSpPr>
          <p:cNvPr id="7" name="TextBox 6">
            <a:extLst>
              <a:ext uri="{FF2B5EF4-FFF2-40B4-BE49-F238E27FC236}">
                <a16:creationId xmlns:a16="http://schemas.microsoft.com/office/drawing/2014/main" id="{80BCBEED-C3DC-1D5C-ADC2-7F0E5783BA6C}"/>
              </a:ext>
            </a:extLst>
          </p:cNvPr>
          <p:cNvSpPr txBox="1"/>
          <p:nvPr/>
        </p:nvSpPr>
        <p:spPr>
          <a:xfrm>
            <a:off x="5751869" y="2250537"/>
            <a:ext cx="6056671" cy="3970318"/>
          </a:xfrm>
          <a:prstGeom prst="rect">
            <a:avLst/>
          </a:prstGeom>
          <a:noFill/>
        </p:spPr>
        <p:txBody>
          <a:bodyPr wrap="square" rtlCol="0">
            <a:spAutoFit/>
          </a:bodyPr>
          <a:lstStyle/>
          <a:p>
            <a:pPr marL="285750" indent="-285750">
              <a:buFont typeface="Arial" panose="020B0604020202020204" pitchFamily="34" charset="0"/>
              <a:buChar char="•"/>
            </a:pPr>
            <a:r>
              <a:rPr lang="en-US" dirty="0"/>
              <a:t>This donut chart represents the gender distribution of customers.</a:t>
            </a:r>
          </a:p>
          <a:p>
            <a:pPr marL="285750" indent="-285750">
              <a:buFont typeface="Wingdings" panose="05000000000000000000" pitchFamily="2" charset="2"/>
              <a:buChar char="Ø"/>
            </a:pPr>
            <a:r>
              <a:rPr lang="en-US" dirty="0"/>
              <a:t>Female customers: ~1.02k(50.8%)</a:t>
            </a:r>
          </a:p>
          <a:p>
            <a:pPr marL="285750" indent="-285750">
              <a:buFont typeface="Wingdings" panose="05000000000000000000" pitchFamily="2" charset="2"/>
              <a:buChar char="Ø"/>
            </a:pPr>
            <a:r>
              <a:rPr lang="en-US" dirty="0"/>
              <a:t>Male customers: ~0.98k(49.2%)</a:t>
            </a:r>
          </a:p>
          <a:p>
            <a:pPr marL="285750" indent="-285750">
              <a:buFont typeface="Arial" panose="020B0604020202020204" pitchFamily="34" charset="0"/>
              <a:buChar char="•"/>
            </a:pPr>
            <a:r>
              <a:rPr lang="en-US" dirty="0"/>
              <a:t>This donut chart shows the percentage-wise distribution of customers by gender, indicating an almost equal representation of male and female customers.</a:t>
            </a:r>
          </a:p>
          <a:p>
            <a:pPr marL="285750" indent="-285750">
              <a:buFont typeface="Arial" panose="020B0604020202020204" pitchFamily="34" charset="0"/>
              <a:buChar char="•"/>
            </a:pPr>
            <a:r>
              <a:rPr lang="en-US" dirty="0"/>
              <a:t>From this chart we conclude that The percentage of each gender.</a:t>
            </a:r>
          </a:p>
          <a:p>
            <a:pPr marL="285750" indent="-285750">
              <a:buFont typeface="Arial" panose="020B0604020202020204" pitchFamily="34" charset="0"/>
              <a:buChar char="•"/>
            </a:pPr>
            <a:r>
              <a:rPr lang="en-US" dirty="0"/>
              <a:t>A quick visual comparison of gender segments.</a:t>
            </a:r>
          </a:p>
          <a:p>
            <a:pPr marL="285750" indent="-285750">
              <a:buFont typeface="Arial" panose="020B0604020202020204" pitchFamily="34" charset="0"/>
              <a:buChar char="•"/>
            </a:pPr>
            <a:r>
              <a:rPr lang="en-US" dirty="0"/>
              <a:t>What percentage of customers are male</a:t>
            </a:r>
          </a:p>
          <a:p>
            <a:pPr marL="285750" indent="-285750">
              <a:buFont typeface="Arial" panose="020B0604020202020204" pitchFamily="34" charset="0"/>
              <a:buChar char="•"/>
            </a:pPr>
            <a:r>
              <a:rPr lang="en-US" dirty="0"/>
              <a:t>What percentage of customers are female</a:t>
            </a:r>
          </a:p>
          <a:p>
            <a:pPr marL="285750" indent="-285750">
              <a:buFont typeface="Arial" panose="020B0604020202020204" pitchFamily="34" charset="0"/>
              <a:buChar char="•"/>
            </a:pPr>
            <a:r>
              <a:rPr lang="en-US" dirty="0"/>
              <a:t>Whether the number of males and females is equal or different.</a:t>
            </a:r>
            <a:endParaRPr lang="en-IN" dirty="0"/>
          </a:p>
        </p:txBody>
      </p:sp>
      <p:sp>
        <p:nvSpPr>
          <p:cNvPr id="2" name="TextBox 1">
            <a:extLst>
              <a:ext uri="{FF2B5EF4-FFF2-40B4-BE49-F238E27FC236}">
                <a16:creationId xmlns:a16="http://schemas.microsoft.com/office/drawing/2014/main" id="{A8C1B754-90BE-59BE-EF06-6D701A3BB493}"/>
              </a:ext>
            </a:extLst>
          </p:cNvPr>
          <p:cNvSpPr txBox="1"/>
          <p:nvPr/>
        </p:nvSpPr>
        <p:spPr>
          <a:xfrm>
            <a:off x="1592826" y="1297858"/>
            <a:ext cx="4829784" cy="369332"/>
          </a:xfrm>
          <a:prstGeom prst="rect">
            <a:avLst/>
          </a:prstGeom>
          <a:noFill/>
        </p:spPr>
        <p:txBody>
          <a:bodyPr wrap="none" rtlCol="0">
            <a:spAutoFit/>
          </a:bodyPr>
          <a:lstStyle/>
          <a:p>
            <a:r>
              <a:rPr lang="en-US" b="1" dirty="0"/>
              <a:t>Q. What is the gender distribution of customers?</a:t>
            </a:r>
            <a:endParaRPr lang="en-IN" b="1" dirty="0"/>
          </a:p>
        </p:txBody>
      </p:sp>
    </p:spTree>
    <p:extLst>
      <p:ext uri="{BB962C8B-B14F-4D97-AF65-F5344CB8AC3E}">
        <p14:creationId xmlns:p14="http://schemas.microsoft.com/office/powerpoint/2010/main" val="15656758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0F5B056-8A4A-69DB-08D1-B35382427AD0}"/>
              </a:ext>
            </a:extLst>
          </p:cNvPr>
          <p:cNvPicPr>
            <a:picLocks noChangeAspect="1"/>
          </p:cNvPicPr>
          <p:nvPr/>
        </p:nvPicPr>
        <p:blipFill>
          <a:blip r:embed="rId2"/>
          <a:stretch>
            <a:fillRect/>
          </a:stretch>
        </p:blipFill>
        <p:spPr>
          <a:xfrm>
            <a:off x="1311429" y="2288805"/>
            <a:ext cx="3689451" cy="2280389"/>
          </a:xfrm>
          <a:prstGeom prst="rect">
            <a:avLst/>
          </a:prstGeom>
        </p:spPr>
      </p:pic>
      <p:sp>
        <p:nvSpPr>
          <p:cNvPr id="4" name="TextBox 3">
            <a:extLst>
              <a:ext uri="{FF2B5EF4-FFF2-40B4-BE49-F238E27FC236}">
                <a16:creationId xmlns:a16="http://schemas.microsoft.com/office/drawing/2014/main" id="{6D41AD2D-E802-B93F-41B0-3B52B319BBA0}"/>
              </a:ext>
            </a:extLst>
          </p:cNvPr>
          <p:cNvSpPr txBox="1"/>
          <p:nvPr/>
        </p:nvSpPr>
        <p:spPr>
          <a:xfrm>
            <a:off x="2054943" y="1688799"/>
            <a:ext cx="1730477" cy="461665"/>
          </a:xfrm>
          <a:prstGeom prst="rect">
            <a:avLst/>
          </a:prstGeom>
          <a:noFill/>
        </p:spPr>
        <p:txBody>
          <a:bodyPr wrap="square" rtlCol="0">
            <a:spAutoFit/>
          </a:bodyPr>
          <a:lstStyle/>
          <a:p>
            <a:pPr algn="ctr"/>
            <a:r>
              <a:rPr lang="en-US" sz="2400" b="1" dirty="0"/>
              <a:t>Slicer</a:t>
            </a:r>
            <a:endParaRPr lang="en-IN" sz="2400" b="1" dirty="0"/>
          </a:p>
        </p:txBody>
      </p:sp>
      <p:sp>
        <p:nvSpPr>
          <p:cNvPr id="5" name="TextBox 4">
            <a:extLst>
              <a:ext uri="{FF2B5EF4-FFF2-40B4-BE49-F238E27FC236}">
                <a16:creationId xmlns:a16="http://schemas.microsoft.com/office/drawing/2014/main" id="{37734961-6065-0485-C272-5AD9E33B905C}"/>
              </a:ext>
            </a:extLst>
          </p:cNvPr>
          <p:cNvSpPr txBox="1"/>
          <p:nvPr/>
        </p:nvSpPr>
        <p:spPr>
          <a:xfrm>
            <a:off x="5692879" y="1536173"/>
            <a:ext cx="6194322" cy="5078313"/>
          </a:xfrm>
          <a:prstGeom prst="rect">
            <a:avLst/>
          </a:prstGeom>
          <a:noFill/>
        </p:spPr>
        <p:txBody>
          <a:bodyPr wrap="square" rtlCol="0">
            <a:spAutoFit/>
          </a:bodyPr>
          <a:lstStyle/>
          <a:p>
            <a:pPr marL="285750" indent="-285750">
              <a:buFont typeface="Arial" panose="020B0604020202020204" pitchFamily="34" charset="0"/>
              <a:buChar char="•"/>
            </a:pPr>
            <a:r>
              <a:rPr lang="en-US" dirty="0"/>
              <a:t>This slicer represents retirement _ age from the users _ data table.</a:t>
            </a:r>
          </a:p>
          <a:p>
            <a:pPr marL="285750" indent="-285750">
              <a:buFont typeface="Arial" panose="020B0604020202020204" pitchFamily="34" charset="0"/>
              <a:buChar char="•"/>
            </a:pPr>
            <a:r>
              <a:rPr lang="en-US" dirty="0"/>
              <a:t>The range shown is 50 to 79</a:t>
            </a:r>
          </a:p>
          <a:p>
            <a:pPr marL="285750" indent="-285750">
              <a:buFont typeface="Arial" panose="020B0604020202020204" pitchFamily="34" charset="0"/>
              <a:buChar char="•"/>
            </a:pPr>
            <a:r>
              <a:rPr lang="en-US" dirty="0"/>
              <a:t>By dragging the sliders, you filter users whose retirement age falls within the selected range</a:t>
            </a:r>
          </a:p>
          <a:p>
            <a:pPr marL="285750" indent="-285750">
              <a:buFont typeface="Arial" panose="020B0604020202020204" pitchFamily="34" charset="0"/>
              <a:buChar char="•"/>
            </a:pPr>
            <a:r>
              <a:rPr lang="en-US" dirty="0"/>
              <a:t>This slicer is used to filter users based on retirement age, allowing interactive analysis of financial patterns across different retirement age ranges .</a:t>
            </a:r>
          </a:p>
          <a:p>
            <a:pPr marL="285750" indent="-285750">
              <a:buFont typeface="Arial" panose="020B0604020202020204" pitchFamily="34" charset="0"/>
              <a:buChar char="•"/>
            </a:pPr>
            <a:r>
              <a:rPr lang="en-US" dirty="0"/>
              <a:t>From this slicer we came to know that </a:t>
            </a:r>
          </a:p>
          <a:p>
            <a:pPr marL="285750" indent="-285750">
              <a:buFont typeface="Wingdings" panose="05000000000000000000" pitchFamily="2" charset="2"/>
              <a:buChar char="Ø"/>
            </a:pPr>
            <a:r>
              <a:rPr lang="en-US" dirty="0"/>
              <a:t>Do people retiring early have more debt?</a:t>
            </a:r>
          </a:p>
          <a:p>
            <a:pPr marL="285750" indent="-285750">
              <a:buFont typeface="Wingdings" panose="05000000000000000000" pitchFamily="2" charset="2"/>
              <a:buChar char="Ø"/>
            </a:pPr>
            <a:r>
              <a:rPr lang="en-US" dirty="0"/>
              <a:t>Do people retiring late have higher income?</a:t>
            </a:r>
          </a:p>
          <a:p>
            <a:pPr marL="285750" indent="-285750">
              <a:buFont typeface="Wingdings" panose="05000000000000000000" pitchFamily="2" charset="2"/>
              <a:buChar char="Ø"/>
            </a:pPr>
            <a:r>
              <a:rPr lang="en-US" dirty="0"/>
              <a:t>Is income increasing with retirement age</a:t>
            </a:r>
          </a:p>
          <a:p>
            <a:pPr marL="285750" indent="-285750">
              <a:buFont typeface="Wingdings" panose="05000000000000000000" pitchFamily="2" charset="2"/>
              <a:buChar char="Ø"/>
            </a:pPr>
            <a:r>
              <a:rPr lang="en-US" dirty="0"/>
              <a:t>Is debt decreasing for certain retirement groups?</a:t>
            </a:r>
          </a:p>
          <a:p>
            <a:pPr marL="285750" indent="-285750">
              <a:buFont typeface="Wingdings" panose="05000000000000000000" pitchFamily="2" charset="2"/>
              <a:buChar char="Ø"/>
            </a:pPr>
            <a:r>
              <a:rPr lang="en-US" dirty="0"/>
              <a:t>Which retirement group is financially stronger &amp; which group might be financially risky.</a:t>
            </a:r>
          </a:p>
          <a:p>
            <a:pPr marL="285750" indent="-285750">
              <a:buFont typeface="Arial" panose="020B0604020202020204" pitchFamily="34" charset="0"/>
              <a:buChar char="•"/>
            </a:pPr>
            <a:r>
              <a:rPr lang="en-US" dirty="0"/>
              <a:t>Ex: Retirement age 55 -&gt; High debt , medium income</a:t>
            </a:r>
          </a:p>
          <a:p>
            <a:pPr marL="285750" indent="-285750">
              <a:buFont typeface="Arial" panose="020B0604020202020204" pitchFamily="34" charset="0"/>
              <a:buChar char="•"/>
            </a:pPr>
            <a:r>
              <a:rPr lang="en-US" dirty="0"/>
              <a:t>Retirement age 65 -&gt; High income , low debt.</a:t>
            </a:r>
          </a:p>
          <a:p>
            <a:pPr marL="285750" indent="-285750">
              <a:buFont typeface="Arial" panose="020B0604020202020204" pitchFamily="34" charset="0"/>
              <a:buChar char="•"/>
            </a:pPr>
            <a:endParaRPr lang="en-IN" dirty="0"/>
          </a:p>
        </p:txBody>
      </p:sp>
      <p:sp>
        <p:nvSpPr>
          <p:cNvPr id="2" name="TextBox 1">
            <a:extLst>
              <a:ext uri="{FF2B5EF4-FFF2-40B4-BE49-F238E27FC236}">
                <a16:creationId xmlns:a16="http://schemas.microsoft.com/office/drawing/2014/main" id="{7014EB4F-648A-7279-00D3-FD1810180701}"/>
              </a:ext>
            </a:extLst>
          </p:cNvPr>
          <p:cNvSpPr txBox="1"/>
          <p:nvPr/>
        </p:nvSpPr>
        <p:spPr>
          <a:xfrm>
            <a:off x="1478576" y="662355"/>
            <a:ext cx="8867620" cy="369332"/>
          </a:xfrm>
          <a:prstGeom prst="rect">
            <a:avLst/>
          </a:prstGeom>
          <a:noFill/>
        </p:spPr>
        <p:txBody>
          <a:bodyPr wrap="none" rtlCol="0">
            <a:spAutoFit/>
          </a:bodyPr>
          <a:lstStyle/>
          <a:p>
            <a:r>
              <a:rPr lang="en-US" b="1" dirty="0"/>
              <a:t>Q.</a:t>
            </a:r>
            <a:r>
              <a:rPr lang="en-US" dirty="0"/>
              <a:t> </a:t>
            </a:r>
            <a:r>
              <a:rPr lang="en-US" b="1" dirty="0"/>
              <a:t>How does the financial profile (income vs debt) change when filtering by retirement age?</a:t>
            </a:r>
            <a:endParaRPr lang="en-IN" b="1" dirty="0"/>
          </a:p>
        </p:txBody>
      </p:sp>
    </p:spTree>
    <p:extLst>
      <p:ext uri="{BB962C8B-B14F-4D97-AF65-F5344CB8AC3E}">
        <p14:creationId xmlns:p14="http://schemas.microsoft.com/office/powerpoint/2010/main" val="34772520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A7B4616-3246-6730-ECC4-F1A90791B6F1}"/>
              </a:ext>
            </a:extLst>
          </p:cNvPr>
          <p:cNvPicPr>
            <a:picLocks noChangeAspect="1"/>
          </p:cNvPicPr>
          <p:nvPr/>
        </p:nvPicPr>
        <p:blipFill>
          <a:blip r:embed="rId2"/>
          <a:stretch>
            <a:fillRect/>
          </a:stretch>
        </p:blipFill>
        <p:spPr>
          <a:xfrm>
            <a:off x="1260631" y="2261361"/>
            <a:ext cx="3675161" cy="2335278"/>
          </a:xfrm>
          <a:prstGeom prst="rect">
            <a:avLst/>
          </a:prstGeom>
        </p:spPr>
      </p:pic>
      <p:sp>
        <p:nvSpPr>
          <p:cNvPr id="4" name="TextBox 3">
            <a:extLst>
              <a:ext uri="{FF2B5EF4-FFF2-40B4-BE49-F238E27FC236}">
                <a16:creationId xmlns:a16="http://schemas.microsoft.com/office/drawing/2014/main" id="{83E67D84-87F0-0555-C47A-06EA90034726}"/>
              </a:ext>
            </a:extLst>
          </p:cNvPr>
          <p:cNvSpPr txBox="1"/>
          <p:nvPr/>
        </p:nvSpPr>
        <p:spPr>
          <a:xfrm>
            <a:off x="1818968" y="1799696"/>
            <a:ext cx="2222090" cy="461665"/>
          </a:xfrm>
          <a:prstGeom prst="rect">
            <a:avLst/>
          </a:prstGeom>
          <a:noFill/>
        </p:spPr>
        <p:txBody>
          <a:bodyPr wrap="square" rtlCol="0">
            <a:spAutoFit/>
          </a:bodyPr>
          <a:lstStyle/>
          <a:p>
            <a:pPr algn="ctr"/>
            <a:r>
              <a:rPr lang="en-US" sz="2400" b="1" dirty="0"/>
              <a:t>Table chart</a:t>
            </a:r>
            <a:endParaRPr lang="en-IN" sz="2400" b="1" dirty="0"/>
          </a:p>
        </p:txBody>
      </p:sp>
      <p:sp>
        <p:nvSpPr>
          <p:cNvPr id="5" name="TextBox 4">
            <a:extLst>
              <a:ext uri="{FF2B5EF4-FFF2-40B4-BE49-F238E27FC236}">
                <a16:creationId xmlns:a16="http://schemas.microsoft.com/office/drawing/2014/main" id="{89B5E673-948D-1C05-85D0-7EB8EAEA09BA}"/>
              </a:ext>
            </a:extLst>
          </p:cNvPr>
          <p:cNvSpPr txBox="1"/>
          <p:nvPr/>
        </p:nvSpPr>
        <p:spPr>
          <a:xfrm>
            <a:off x="5494129" y="2030528"/>
            <a:ext cx="6499122" cy="3970318"/>
          </a:xfrm>
          <a:prstGeom prst="rect">
            <a:avLst/>
          </a:prstGeom>
          <a:noFill/>
        </p:spPr>
        <p:txBody>
          <a:bodyPr wrap="square" rtlCol="0">
            <a:spAutoFit/>
          </a:bodyPr>
          <a:lstStyle/>
          <a:p>
            <a:pPr marL="285750" indent="-285750">
              <a:buFont typeface="Arial" panose="020B0604020202020204" pitchFamily="34" charset="0"/>
              <a:buChar char="•"/>
            </a:pPr>
            <a:r>
              <a:rPr lang="en-US" dirty="0"/>
              <a:t>This table shows the relationship between card brand and dark web exposure.</a:t>
            </a:r>
          </a:p>
          <a:p>
            <a:pPr marL="285750" indent="-285750">
              <a:buFont typeface="Arial" panose="020B0604020202020204" pitchFamily="34" charset="0"/>
              <a:buChar char="•"/>
            </a:pPr>
            <a:r>
              <a:rPr lang="en-US" dirty="0"/>
              <a:t>Specifically:</a:t>
            </a:r>
          </a:p>
          <a:p>
            <a:pPr marL="285750" indent="-285750">
              <a:buFont typeface="Wingdings" panose="05000000000000000000" pitchFamily="2" charset="2"/>
              <a:buChar char="Ø"/>
            </a:pPr>
            <a:r>
              <a:rPr lang="en-US" dirty="0"/>
              <a:t>Card _ brand -&gt; Type of card (Amex, Discover, Mastercard, Visa)</a:t>
            </a:r>
          </a:p>
          <a:p>
            <a:pPr marL="285750" indent="-285750">
              <a:buFont typeface="Wingdings" panose="05000000000000000000" pitchFamily="2" charset="2"/>
              <a:buChar char="Ø"/>
            </a:pPr>
            <a:r>
              <a:rPr lang="en-US" dirty="0"/>
              <a:t>Card _ on _ dark _ web -&gt; Indicates whether cards of that brand were found on the dark web (Yes / No)</a:t>
            </a:r>
          </a:p>
          <a:p>
            <a:pPr marL="285750" indent="-285750">
              <a:buFont typeface="Arial" panose="020B0604020202020204" pitchFamily="34" charset="0"/>
              <a:buChar char="•"/>
            </a:pPr>
            <a:r>
              <a:rPr lang="en-US" dirty="0"/>
              <a:t>This table visual displays card brands along with their dark web exposure status, helping assess potential security risks across different card types.</a:t>
            </a:r>
          </a:p>
          <a:p>
            <a:pPr marL="285750" indent="-285750">
              <a:buFont typeface="Arial" panose="020B0604020202020204" pitchFamily="34" charset="0"/>
              <a:buChar char="•"/>
            </a:pPr>
            <a:r>
              <a:rPr lang="en-US" dirty="0"/>
              <a:t>This table chart says that:</a:t>
            </a:r>
          </a:p>
          <a:p>
            <a:pPr marL="285750" indent="-285750">
              <a:buFont typeface="Arial" panose="020B0604020202020204" pitchFamily="34" charset="0"/>
              <a:buChar char="•"/>
            </a:pPr>
            <a:r>
              <a:rPr lang="en-US" dirty="0"/>
              <a:t>Which customers are at risk due to dark web exposure.</a:t>
            </a:r>
          </a:p>
          <a:p>
            <a:pPr marL="285750" indent="-285750">
              <a:buFont typeface="Arial" panose="020B0604020202020204" pitchFamily="34" charset="0"/>
              <a:buChar char="•"/>
            </a:pPr>
            <a:r>
              <a:rPr lang="en-US" dirty="0"/>
              <a:t>If any card is on dark _ web so certain actionable insights are taken like block those cards , inform customers , issue new cards, </a:t>
            </a:r>
          </a:p>
          <a:p>
            <a:r>
              <a:rPr lang="en-US" dirty="0"/>
              <a:t>      strengthen the security.</a:t>
            </a:r>
            <a:endParaRPr lang="en-IN" dirty="0"/>
          </a:p>
        </p:txBody>
      </p:sp>
      <p:sp>
        <p:nvSpPr>
          <p:cNvPr id="2" name="TextBox 1">
            <a:extLst>
              <a:ext uri="{FF2B5EF4-FFF2-40B4-BE49-F238E27FC236}">
                <a16:creationId xmlns:a16="http://schemas.microsoft.com/office/drawing/2014/main" id="{82512DFA-4B21-7F5D-4075-3724C768713B}"/>
              </a:ext>
            </a:extLst>
          </p:cNvPr>
          <p:cNvSpPr txBox="1"/>
          <p:nvPr/>
        </p:nvSpPr>
        <p:spPr>
          <a:xfrm>
            <a:off x="1474839" y="904568"/>
            <a:ext cx="6441059" cy="369332"/>
          </a:xfrm>
          <a:prstGeom prst="rect">
            <a:avLst/>
          </a:prstGeom>
          <a:noFill/>
        </p:spPr>
        <p:txBody>
          <a:bodyPr wrap="none" rtlCol="0">
            <a:spAutoFit/>
          </a:bodyPr>
          <a:lstStyle/>
          <a:p>
            <a:r>
              <a:rPr lang="en-US" b="1" dirty="0"/>
              <a:t>Q. </a:t>
            </a:r>
            <a:r>
              <a:rPr lang="en-US" dirty="0"/>
              <a:t>Which customers have cards that are exposed on the dark web?</a:t>
            </a:r>
            <a:endParaRPr lang="en-IN" dirty="0"/>
          </a:p>
        </p:txBody>
      </p:sp>
    </p:spTree>
    <p:extLst>
      <p:ext uri="{BB962C8B-B14F-4D97-AF65-F5344CB8AC3E}">
        <p14:creationId xmlns:p14="http://schemas.microsoft.com/office/powerpoint/2010/main" val="206309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33A246F-14C6-A1F0-D9EF-BE5FF217507E}"/>
              </a:ext>
            </a:extLst>
          </p:cNvPr>
          <p:cNvPicPr>
            <a:picLocks noChangeAspect="1"/>
          </p:cNvPicPr>
          <p:nvPr/>
        </p:nvPicPr>
        <p:blipFill>
          <a:blip r:embed="rId2"/>
          <a:stretch>
            <a:fillRect/>
          </a:stretch>
        </p:blipFill>
        <p:spPr>
          <a:xfrm>
            <a:off x="1148019" y="1620699"/>
            <a:ext cx="3168342" cy="1052411"/>
          </a:xfrm>
          <a:prstGeom prst="rect">
            <a:avLst/>
          </a:prstGeom>
        </p:spPr>
      </p:pic>
      <p:sp>
        <p:nvSpPr>
          <p:cNvPr id="4" name="TextBox 3">
            <a:extLst>
              <a:ext uri="{FF2B5EF4-FFF2-40B4-BE49-F238E27FC236}">
                <a16:creationId xmlns:a16="http://schemas.microsoft.com/office/drawing/2014/main" id="{B1ED3E26-5AD1-9DC6-6145-06AF8B33714C}"/>
              </a:ext>
            </a:extLst>
          </p:cNvPr>
          <p:cNvSpPr txBox="1"/>
          <p:nvPr/>
        </p:nvSpPr>
        <p:spPr>
          <a:xfrm>
            <a:off x="4080387" y="369874"/>
            <a:ext cx="3628103" cy="461665"/>
          </a:xfrm>
          <a:prstGeom prst="rect">
            <a:avLst/>
          </a:prstGeom>
          <a:noFill/>
        </p:spPr>
        <p:txBody>
          <a:bodyPr wrap="square" rtlCol="0">
            <a:spAutoFit/>
          </a:bodyPr>
          <a:lstStyle/>
          <a:p>
            <a:pPr algn="ctr"/>
            <a:r>
              <a:rPr lang="en-US" sz="2400" b="1" dirty="0"/>
              <a:t>Card charts</a:t>
            </a:r>
            <a:endParaRPr lang="en-IN" sz="2400" b="1" dirty="0"/>
          </a:p>
        </p:txBody>
      </p:sp>
      <p:sp>
        <p:nvSpPr>
          <p:cNvPr id="5" name="TextBox 4">
            <a:extLst>
              <a:ext uri="{FF2B5EF4-FFF2-40B4-BE49-F238E27FC236}">
                <a16:creationId xmlns:a16="http://schemas.microsoft.com/office/drawing/2014/main" id="{2D8CE430-E89C-2019-B9B4-19D907B84392}"/>
              </a:ext>
            </a:extLst>
          </p:cNvPr>
          <p:cNvSpPr txBox="1"/>
          <p:nvPr/>
        </p:nvSpPr>
        <p:spPr>
          <a:xfrm>
            <a:off x="4581830" y="1397675"/>
            <a:ext cx="7108725" cy="2031325"/>
          </a:xfrm>
          <a:prstGeom prst="rect">
            <a:avLst/>
          </a:prstGeom>
          <a:noFill/>
        </p:spPr>
        <p:txBody>
          <a:bodyPr wrap="square" rtlCol="0">
            <a:spAutoFit/>
          </a:bodyPr>
          <a:lstStyle/>
          <a:p>
            <a:pPr marL="285750" indent="-285750">
              <a:buFont typeface="Arial" panose="020B0604020202020204" pitchFamily="34" charset="0"/>
              <a:buChar char="•"/>
            </a:pPr>
            <a:r>
              <a:rPr lang="en-US" dirty="0"/>
              <a:t>This card shows a single key value:</a:t>
            </a:r>
          </a:p>
          <a:p>
            <a:pPr marL="285750" indent="-285750">
              <a:buFont typeface="Arial" panose="020B0604020202020204" pitchFamily="34" charset="0"/>
              <a:buChar char="•"/>
            </a:pPr>
            <a:r>
              <a:rPr lang="en-US" dirty="0"/>
              <a:t>433 customers are close to retirement</a:t>
            </a:r>
          </a:p>
          <a:p>
            <a:pPr marL="285750" indent="-285750">
              <a:buFont typeface="Arial" panose="020B0604020202020204" pitchFamily="34" charset="0"/>
              <a:buChar char="•"/>
            </a:pPr>
            <a:r>
              <a:rPr lang="en-US" dirty="0"/>
              <a:t>“close to retirement” usually means:</a:t>
            </a:r>
          </a:p>
          <a:p>
            <a:pPr marL="285750" indent="-285750">
              <a:buFont typeface="Wingdings" panose="05000000000000000000" pitchFamily="2" charset="2"/>
              <a:buChar char="Ø"/>
            </a:pPr>
            <a:r>
              <a:rPr lang="en-US" dirty="0"/>
              <a:t>Customers whose current _ age is within 5 years of retirement _ age (for example: retirement _ age – current _ age &lt;= 5)</a:t>
            </a:r>
          </a:p>
          <a:p>
            <a:pPr marL="285750" indent="-285750">
              <a:buFont typeface="Arial" panose="020B0604020202020204" pitchFamily="34" charset="0"/>
              <a:buChar char="•"/>
            </a:pPr>
            <a:r>
              <a:rPr lang="en-US" dirty="0"/>
              <a:t>This card visual helping to identify a key customer segment for financial planning and targeted services.</a:t>
            </a:r>
            <a:endParaRPr lang="en-IN" dirty="0"/>
          </a:p>
        </p:txBody>
      </p:sp>
      <p:pic>
        <p:nvPicPr>
          <p:cNvPr id="7" name="Picture 6">
            <a:extLst>
              <a:ext uri="{FF2B5EF4-FFF2-40B4-BE49-F238E27FC236}">
                <a16:creationId xmlns:a16="http://schemas.microsoft.com/office/drawing/2014/main" id="{BD4A864A-B738-970F-8874-C7D895687B1D}"/>
              </a:ext>
            </a:extLst>
          </p:cNvPr>
          <p:cNvPicPr>
            <a:picLocks noChangeAspect="1"/>
          </p:cNvPicPr>
          <p:nvPr/>
        </p:nvPicPr>
        <p:blipFill>
          <a:blip r:embed="rId3"/>
          <a:stretch>
            <a:fillRect/>
          </a:stretch>
        </p:blipFill>
        <p:spPr>
          <a:xfrm>
            <a:off x="1148019" y="4061587"/>
            <a:ext cx="3099515" cy="1052410"/>
          </a:xfrm>
          <a:prstGeom prst="rect">
            <a:avLst/>
          </a:prstGeom>
        </p:spPr>
      </p:pic>
      <p:sp>
        <p:nvSpPr>
          <p:cNvPr id="8" name="TextBox 7">
            <a:extLst>
              <a:ext uri="{FF2B5EF4-FFF2-40B4-BE49-F238E27FC236}">
                <a16:creationId xmlns:a16="http://schemas.microsoft.com/office/drawing/2014/main" id="{9D959A28-9090-1113-5FF5-914858A6E6C9}"/>
              </a:ext>
            </a:extLst>
          </p:cNvPr>
          <p:cNvSpPr txBox="1"/>
          <p:nvPr/>
        </p:nvSpPr>
        <p:spPr>
          <a:xfrm>
            <a:off x="4748981" y="3944464"/>
            <a:ext cx="7030064" cy="2031325"/>
          </a:xfrm>
          <a:prstGeom prst="rect">
            <a:avLst/>
          </a:prstGeom>
          <a:noFill/>
        </p:spPr>
        <p:txBody>
          <a:bodyPr wrap="square" rtlCol="0">
            <a:spAutoFit/>
          </a:bodyPr>
          <a:lstStyle/>
          <a:p>
            <a:pPr marL="285750" indent="-285750">
              <a:buFont typeface="Arial" panose="020B0604020202020204" pitchFamily="34" charset="0"/>
              <a:buChar char="•"/>
            </a:pPr>
            <a:r>
              <a:rPr lang="en-US" dirty="0"/>
              <a:t>This card visual displays the total number of unique client cards, providing a quick overview of the overall card coverage in the dataset.</a:t>
            </a:r>
          </a:p>
          <a:p>
            <a:pPr marL="285750" indent="-285750">
              <a:buFont typeface="Arial" panose="020B0604020202020204" pitchFamily="34" charset="0"/>
              <a:buChar char="•"/>
            </a:pPr>
            <a:r>
              <a:rPr lang="en-US" dirty="0"/>
              <a:t>It shows 2000 unique client cards</a:t>
            </a:r>
          </a:p>
          <a:p>
            <a:pPr marL="285750" indent="-285750">
              <a:buFont typeface="Arial" panose="020B0604020202020204" pitchFamily="34" charset="0"/>
              <a:buChar char="•"/>
            </a:pPr>
            <a:r>
              <a:rPr lang="en-US" dirty="0"/>
              <a:t>That means:</a:t>
            </a:r>
          </a:p>
          <a:p>
            <a:pPr marL="285750" indent="-285750">
              <a:buFont typeface="Wingdings" panose="05000000000000000000" pitchFamily="2" charset="2"/>
              <a:buChar char="Ø"/>
            </a:pPr>
            <a:r>
              <a:rPr lang="en-US" dirty="0"/>
              <a:t>There are 2000 distinct cards issued to clients</a:t>
            </a:r>
          </a:p>
          <a:p>
            <a:pPr marL="285750" indent="-285750">
              <a:buFont typeface="Wingdings" panose="05000000000000000000" pitchFamily="2" charset="2"/>
              <a:buChar char="Ø"/>
            </a:pPr>
            <a:r>
              <a:rPr lang="en-US" dirty="0"/>
              <a:t>Each card is counted only once, even if it appears multiple times in transactions.</a:t>
            </a:r>
            <a:endParaRPr lang="en-IN" dirty="0"/>
          </a:p>
        </p:txBody>
      </p:sp>
      <p:sp>
        <p:nvSpPr>
          <p:cNvPr id="2" name="TextBox 1">
            <a:extLst>
              <a:ext uri="{FF2B5EF4-FFF2-40B4-BE49-F238E27FC236}">
                <a16:creationId xmlns:a16="http://schemas.microsoft.com/office/drawing/2014/main" id="{6321D8E5-E062-07EE-702C-E1D840FC4A7D}"/>
              </a:ext>
            </a:extLst>
          </p:cNvPr>
          <p:cNvSpPr txBox="1"/>
          <p:nvPr/>
        </p:nvSpPr>
        <p:spPr>
          <a:xfrm>
            <a:off x="1376516" y="983226"/>
            <a:ext cx="4849148" cy="369332"/>
          </a:xfrm>
          <a:prstGeom prst="rect">
            <a:avLst/>
          </a:prstGeom>
          <a:noFill/>
        </p:spPr>
        <p:txBody>
          <a:bodyPr wrap="none" rtlCol="0">
            <a:spAutoFit/>
          </a:bodyPr>
          <a:lstStyle/>
          <a:p>
            <a:r>
              <a:rPr lang="en-US" b="1" dirty="0"/>
              <a:t>Q.</a:t>
            </a:r>
            <a:r>
              <a:rPr lang="en-US" dirty="0"/>
              <a:t> </a:t>
            </a:r>
            <a:r>
              <a:rPr lang="en-US" b="1" dirty="0"/>
              <a:t>How many customers are close to retirement?</a:t>
            </a:r>
            <a:endParaRPr lang="en-IN" b="1" dirty="0"/>
          </a:p>
        </p:txBody>
      </p:sp>
      <p:sp>
        <p:nvSpPr>
          <p:cNvPr id="6" name="TextBox 5">
            <a:extLst>
              <a:ext uri="{FF2B5EF4-FFF2-40B4-BE49-F238E27FC236}">
                <a16:creationId xmlns:a16="http://schemas.microsoft.com/office/drawing/2014/main" id="{B115394F-493F-E299-8BFE-0A15AF9604FB}"/>
              </a:ext>
            </a:extLst>
          </p:cNvPr>
          <p:cNvSpPr txBox="1"/>
          <p:nvPr/>
        </p:nvSpPr>
        <p:spPr>
          <a:xfrm>
            <a:off x="1563329" y="3575132"/>
            <a:ext cx="3998082" cy="369332"/>
          </a:xfrm>
          <a:prstGeom prst="rect">
            <a:avLst/>
          </a:prstGeom>
          <a:noFill/>
        </p:spPr>
        <p:txBody>
          <a:bodyPr wrap="none" rtlCol="0">
            <a:spAutoFit/>
          </a:bodyPr>
          <a:lstStyle/>
          <a:p>
            <a:r>
              <a:rPr lang="en-US" b="1" dirty="0"/>
              <a:t>Q. How many unique clients own cards?</a:t>
            </a:r>
            <a:endParaRPr lang="en-IN" b="1" dirty="0"/>
          </a:p>
        </p:txBody>
      </p:sp>
    </p:spTree>
    <p:extLst>
      <p:ext uri="{BB962C8B-B14F-4D97-AF65-F5344CB8AC3E}">
        <p14:creationId xmlns:p14="http://schemas.microsoft.com/office/powerpoint/2010/main" val="2326437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2C370A0-A655-942D-D6C0-C6FC330B35F7}"/>
              </a:ext>
            </a:extLst>
          </p:cNvPr>
          <p:cNvPicPr>
            <a:picLocks noChangeAspect="1"/>
          </p:cNvPicPr>
          <p:nvPr/>
        </p:nvPicPr>
        <p:blipFill>
          <a:blip r:embed="rId2"/>
          <a:stretch>
            <a:fillRect/>
          </a:stretch>
        </p:blipFill>
        <p:spPr>
          <a:xfrm>
            <a:off x="718104" y="893484"/>
            <a:ext cx="3145971" cy="948101"/>
          </a:xfrm>
          <a:prstGeom prst="rect">
            <a:avLst/>
          </a:prstGeom>
        </p:spPr>
      </p:pic>
      <p:sp>
        <p:nvSpPr>
          <p:cNvPr id="4" name="TextBox 3">
            <a:extLst>
              <a:ext uri="{FF2B5EF4-FFF2-40B4-BE49-F238E27FC236}">
                <a16:creationId xmlns:a16="http://schemas.microsoft.com/office/drawing/2014/main" id="{49C91F2C-731A-63F0-554F-1C634F07F14E}"/>
              </a:ext>
            </a:extLst>
          </p:cNvPr>
          <p:cNvSpPr txBox="1"/>
          <p:nvPr/>
        </p:nvSpPr>
        <p:spPr>
          <a:xfrm>
            <a:off x="4375002" y="700589"/>
            <a:ext cx="7915321" cy="1754326"/>
          </a:xfrm>
          <a:prstGeom prst="rect">
            <a:avLst/>
          </a:prstGeom>
          <a:noFill/>
        </p:spPr>
        <p:txBody>
          <a:bodyPr wrap="square" rtlCol="0">
            <a:spAutoFit/>
          </a:bodyPr>
          <a:lstStyle/>
          <a:p>
            <a:pPr marL="285750" indent="-285750">
              <a:buFont typeface="Arial" panose="020B0604020202020204" pitchFamily="34" charset="0"/>
              <a:buChar char="•"/>
            </a:pPr>
            <a:r>
              <a:rPr lang="en-US" dirty="0"/>
              <a:t>This card visual displays the total number of transactions, giving a quick snapshot of overall transaction activity in the dataset.</a:t>
            </a:r>
          </a:p>
          <a:p>
            <a:pPr marL="285750" indent="-285750">
              <a:buFont typeface="Arial" panose="020B0604020202020204" pitchFamily="34" charset="0"/>
              <a:buChar char="•"/>
            </a:pPr>
            <a:r>
              <a:rPr lang="en-US" dirty="0"/>
              <a:t>It shows 1.05M total transactions</a:t>
            </a:r>
          </a:p>
          <a:p>
            <a:pPr marL="285750" indent="-285750">
              <a:buFont typeface="Arial" panose="020B0604020202020204" pitchFamily="34" charset="0"/>
              <a:buChar char="•"/>
            </a:pPr>
            <a:r>
              <a:rPr lang="en-US" dirty="0"/>
              <a:t>That means:</a:t>
            </a:r>
          </a:p>
          <a:p>
            <a:pPr marL="285750" indent="-285750">
              <a:buFont typeface="Wingdings" panose="05000000000000000000" pitchFamily="2" charset="2"/>
              <a:buChar char="Ø"/>
            </a:pPr>
            <a:r>
              <a:rPr lang="en-US" dirty="0"/>
              <a:t>There are approximately 1.05 million transaction records in the dataset</a:t>
            </a:r>
          </a:p>
          <a:p>
            <a:pPr marL="285750" indent="-285750">
              <a:buFont typeface="Wingdings" panose="05000000000000000000" pitchFamily="2" charset="2"/>
              <a:buChar char="Ø"/>
            </a:pPr>
            <a:r>
              <a:rPr lang="en-US" dirty="0"/>
              <a:t>Every purchase, payment, or swipe is counted</a:t>
            </a:r>
            <a:endParaRPr lang="en-IN" dirty="0"/>
          </a:p>
        </p:txBody>
      </p:sp>
      <p:pic>
        <p:nvPicPr>
          <p:cNvPr id="6" name="Picture 5">
            <a:extLst>
              <a:ext uri="{FF2B5EF4-FFF2-40B4-BE49-F238E27FC236}">
                <a16:creationId xmlns:a16="http://schemas.microsoft.com/office/drawing/2014/main" id="{C85FABE3-C0B6-ED85-62A9-8E0A9F13C259}"/>
              </a:ext>
            </a:extLst>
          </p:cNvPr>
          <p:cNvPicPr>
            <a:picLocks noChangeAspect="1"/>
          </p:cNvPicPr>
          <p:nvPr/>
        </p:nvPicPr>
        <p:blipFill>
          <a:blip r:embed="rId3"/>
          <a:stretch>
            <a:fillRect/>
          </a:stretch>
        </p:blipFill>
        <p:spPr>
          <a:xfrm>
            <a:off x="718104" y="3115242"/>
            <a:ext cx="3145971" cy="876655"/>
          </a:xfrm>
          <a:prstGeom prst="rect">
            <a:avLst/>
          </a:prstGeom>
        </p:spPr>
      </p:pic>
      <p:sp>
        <p:nvSpPr>
          <p:cNvPr id="2" name="TextBox 1">
            <a:extLst>
              <a:ext uri="{FF2B5EF4-FFF2-40B4-BE49-F238E27FC236}">
                <a16:creationId xmlns:a16="http://schemas.microsoft.com/office/drawing/2014/main" id="{D080EB64-925B-3E9E-D8AC-AFFB32C6D5BE}"/>
              </a:ext>
            </a:extLst>
          </p:cNvPr>
          <p:cNvSpPr txBox="1"/>
          <p:nvPr/>
        </p:nvSpPr>
        <p:spPr>
          <a:xfrm>
            <a:off x="4276679" y="2852109"/>
            <a:ext cx="7610521" cy="1754326"/>
          </a:xfrm>
          <a:prstGeom prst="rect">
            <a:avLst/>
          </a:prstGeom>
          <a:noFill/>
        </p:spPr>
        <p:txBody>
          <a:bodyPr wrap="square" rtlCol="0">
            <a:spAutoFit/>
          </a:bodyPr>
          <a:lstStyle/>
          <a:p>
            <a:pPr marL="285750" indent="-285750">
              <a:buFont typeface="Arial" panose="020B0604020202020204" pitchFamily="34" charset="0"/>
              <a:buChar char="•"/>
            </a:pPr>
            <a:r>
              <a:rPr lang="en-US" dirty="0"/>
              <a:t>This card visual represents the number pf unique clients who have performed transactions, indicating the active customer base in the dataset.</a:t>
            </a:r>
          </a:p>
          <a:p>
            <a:pPr marL="285750" indent="-285750">
              <a:buFont typeface="Arial" panose="020B0604020202020204" pitchFamily="34" charset="0"/>
              <a:buChar char="•"/>
            </a:pPr>
            <a:r>
              <a:rPr lang="en-US" dirty="0"/>
              <a:t>It shows 1131 unique client transactions</a:t>
            </a:r>
          </a:p>
          <a:p>
            <a:pPr marL="285750" indent="-285750">
              <a:buFont typeface="Arial" panose="020B0604020202020204" pitchFamily="34" charset="0"/>
              <a:buChar char="•"/>
            </a:pPr>
            <a:r>
              <a:rPr lang="en-US" dirty="0"/>
              <a:t>This means:</a:t>
            </a:r>
          </a:p>
          <a:p>
            <a:pPr marL="285750" indent="-285750">
              <a:buFont typeface="Wingdings" panose="05000000000000000000" pitchFamily="2" charset="2"/>
              <a:buChar char="Ø"/>
            </a:pPr>
            <a:r>
              <a:rPr lang="en-US" dirty="0"/>
              <a:t>There are 1131 distinct clients who have performed at least one transaction</a:t>
            </a:r>
          </a:p>
          <a:p>
            <a:pPr marL="285750" indent="-285750">
              <a:buFont typeface="Wingdings" panose="05000000000000000000" pitchFamily="2" charset="2"/>
              <a:buChar char="Ø"/>
            </a:pPr>
            <a:r>
              <a:rPr lang="en-US" dirty="0"/>
              <a:t>Each client is counted only once, even if they made multiple transactions</a:t>
            </a:r>
            <a:endParaRPr lang="en-IN" dirty="0"/>
          </a:p>
        </p:txBody>
      </p:sp>
      <p:pic>
        <p:nvPicPr>
          <p:cNvPr id="7" name="Picture 6">
            <a:extLst>
              <a:ext uri="{FF2B5EF4-FFF2-40B4-BE49-F238E27FC236}">
                <a16:creationId xmlns:a16="http://schemas.microsoft.com/office/drawing/2014/main" id="{1178459C-82EB-2623-7CA2-92FEC8F62C63}"/>
              </a:ext>
            </a:extLst>
          </p:cNvPr>
          <p:cNvPicPr>
            <a:picLocks noChangeAspect="1"/>
          </p:cNvPicPr>
          <p:nvPr/>
        </p:nvPicPr>
        <p:blipFill>
          <a:blip r:embed="rId4"/>
          <a:stretch>
            <a:fillRect/>
          </a:stretch>
        </p:blipFill>
        <p:spPr>
          <a:xfrm>
            <a:off x="786931" y="5121021"/>
            <a:ext cx="3096057" cy="965143"/>
          </a:xfrm>
          <a:prstGeom prst="rect">
            <a:avLst/>
          </a:prstGeom>
        </p:spPr>
      </p:pic>
      <p:sp>
        <p:nvSpPr>
          <p:cNvPr id="8" name="TextBox 7">
            <a:extLst>
              <a:ext uri="{FF2B5EF4-FFF2-40B4-BE49-F238E27FC236}">
                <a16:creationId xmlns:a16="http://schemas.microsoft.com/office/drawing/2014/main" id="{D9E122D8-12A7-8D50-8B38-56FA1E763E6A}"/>
              </a:ext>
            </a:extLst>
          </p:cNvPr>
          <p:cNvSpPr txBox="1"/>
          <p:nvPr/>
        </p:nvSpPr>
        <p:spPr>
          <a:xfrm>
            <a:off x="4493346" y="5121021"/>
            <a:ext cx="7531509" cy="923330"/>
          </a:xfrm>
          <a:prstGeom prst="rect">
            <a:avLst/>
          </a:prstGeom>
          <a:noFill/>
        </p:spPr>
        <p:txBody>
          <a:bodyPr wrap="square" rtlCol="0">
            <a:spAutoFit/>
          </a:bodyPr>
          <a:lstStyle/>
          <a:p>
            <a:pPr marL="285750" indent="-285750">
              <a:buFont typeface="Arial" panose="020B0604020202020204" pitchFamily="34" charset="0"/>
              <a:buChar char="•"/>
            </a:pPr>
            <a:r>
              <a:rPr lang="en-US" dirty="0"/>
              <a:t>This card visual displays the average credit score of users, helping us quickly understand the overall creditworthiness level of the customer base.</a:t>
            </a:r>
          </a:p>
          <a:p>
            <a:pPr marL="285750" indent="-285750">
              <a:buFont typeface="Arial" panose="020B0604020202020204" pitchFamily="34" charset="0"/>
              <a:buChar char="•"/>
            </a:pPr>
            <a:endParaRPr lang="en-IN" dirty="0"/>
          </a:p>
        </p:txBody>
      </p:sp>
      <p:sp>
        <p:nvSpPr>
          <p:cNvPr id="5" name="TextBox 4">
            <a:extLst>
              <a:ext uri="{FF2B5EF4-FFF2-40B4-BE49-F238E27FC236}">
                <a16:creationId xmlns:a16="http://schemas.microsoft.com/office/drawing/2014/main" id="{EB5CF24C-1B94-4D67-1643-5CE7DD472DE2}"/>
              </a:ext>
            </a:extLst>
          </p:cNvPr>
          <p:cNvSpPr txBox="1"/>
          <p:nvPr/>
        </p:nvSpPr>
        <p:spPr>
          <a:xfrm>
            <a:off x="786931" y="2488617"/>
            <a:ext cx="6754761" cy="369332"/>
          </a:xfrm>
          <a:prstGeom prst="rect">
            <a:avLst/>
          </a:prstGeom>
          <a:noFill/>
        </p:spPr>
        <p:txBody>
          <a:bodyPr wrap="square" rtlCol="0">
            <a:spAutoFit/>
          </a:bodyPr>
          <a:lstStyle/>
          <a:p>
            <a:r>
              <a:rPr lang="en-US" b="1" dirty="0"/>
              <a:t>Q. How many unique clients are making transactions?</a:t>
            </a:r>
            <a:endParaRPr lang="en-IN" b="1" dirty="0"/>
          </a:p>
        </p:txBody>
      </p:sp>
      <p:sp>
        <p:nvSpPr>
          <p:cNvPr id="9" name="TextBox 8">
            <a:extLst>
              <a:ext uri="{FF2B5EF4-FFF2-40B4-BE49-F238E27FC236}">
                <a16:creationId xmlns:a16="http://schemas.microsoft.com/office/drawing/2014/main" id="{FA06B0EC-EB04-20E0-2D32-86E4BB9FFA06}"/>
              </a:ext>
            </a:extLst>
          </p:cNvPr>
          <p:cNvSpPr txBox="1"/>
          <p:nvPr/>
        </p:nvSpPr>
        <p:spPr>
          <a:xfrm>
            <a:off x="934065" y="395506"/>
            <a:ext cx="4204292" cy="369332"/>
          </a:xfrm>
          <a:prstGeom prst="rect">
            <a:avLst/>
          </a:prstGeom>
          <a:noFill/>
        </p:spPr>
        <p:txBody>
          <a:bodyPr wrap="none" rtlCol="0">
            <a:spAutoFit/>
          </a:bodyPr>
          <a:lstStyle/>
          <a:p>
            <a:r>
              <a:rPr lang="en-US" b="1" dirty="0"/>
              <a:t>Q. How many total transactions occurred?</a:t>
            </a:r>
            <a:endParaRPr lang="en-IN" b="1" dirty="0"/>
          </a:p>
        </p:txBody>
      </p:sp>
      <p:sp>
        <p:nvSpPr>
          <p:cNvPr id="10" name="TextBox 9">
            <a:extLst>
              <a:ext uri="{FF2B5EF4-FFF2-40B4-BE49-F238E27FC236}">
                <a16:creationId xmlns:a16="http://schemas.microsoft.com/office/drawing/2014/main" id="{84DBFD10-559C-D6CD-7EA5-DF00119A008F}"/>
              </a:ext>
            </a:extLst>
          </p:cNvPr>
          <p:cNvSpPr txBox="1"/>
          <p:nvPr/>
        </p:nvSpPr>
        <p:spPr>
          <a:xfrm>
            <a:off x="1032388" y="4606435"/>
            <a:ext cx="4424481" cy="369332"/>
          </a:xfrm>
          <a:prstGeom prst="rect">
            <a:avLst/>
          </a:prstGeom>
          <a:noFill/>
        </p:spPr>
        <p:txBody>
          <a:bodyPr wrap="none" rtlCol="0">
            <a:spAutoFit/>
          </a:bodyPr>
          <a:lstStyle/>
          <a:p>
            <a:r>
              <a:rPr lang="en-US" b="1" dirty="0"/>
              <a:t>Q. What is the average credit score of users?</a:t>
            </a:r>
            <a:endParaRPr lang="en-IN" b="1" dirty="0"/>
          </a:p>
        </p:txBody>
      </p:sp>
    </p:spTree>
    <p:extLst>
      <p:ext uri="{BB962C8B-B14F-4D97-AF65-F5344CB8AC3E}">
        <p14:creationId xmlns:p14="http://schemas.microsoft.com/office/powerpoint/2010/main" val="35319083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4691EEC-4A79-403F-E473-95E65658FAA8}"/>
              </a:ext>
            </a:extLst>
          </p:cNvPr>
          <p:cNvPicPr>
            <a:picLocks noChangeAspect="1"/>
          </p:cNvPicPr>
          <p:nvPr/>
        </p:nvPicPr>
        <p:blipFill>
          <a:blip r:embed="rId2"/>
          <a:stretch>
            <a:fillRect/>
          </a:stretch>
        </p:blipFill>
        <p:spPr>
          <a:xfrm>
            <a:off x="1042007" y="1954777"/>
            <a:ext cx="3588987" cy="2430410"/>
          </a:xfrm>
          <a:prstGeom prst="rect">
            <a:avLst/>
          </a:prstGeom>
        </p:spPr>
      </p:pic>
      <p:sp>
        <p:nvSpPr>
          <p:cNvPr id="7" name="TextBox 6">
            <a:extLst>
              <a:ext uri="{FF2B5EF4-FFF2-40B4-BE49-F238E27FC236}">
                <a16:creationId xmlns:a16="http://schemas.microsoft.com/office/drawing/2014/main" id="{19261488-6438-5B6B-9C19-1D4E25886292}"/>
              </a:ext>
            </a:extLst>
          </p:cNvPr>
          <p:cNvSpPr txBox="1"/>
          <p:nvPr/>
        </p:nvSpPr>
        <p:spPr>
          <a:xfrm>
            <a:off x="1533832" y="1356851"/>
            <a:ext cx="2861188" cy="461665"/>
          </a:xfrm>
          <a:prstGeom prst="rect">
            <a:avLst/>
          </a:prstGeom>
          <a:noFill/>
        </p:spPr>
        <p:txBody>
          <a:bodyPr wrap="square" rtlCol="0">
            <a:spAutoFit/>
          </a:bodyPr>
          <a:lstStyle/>
          <a:p>
            <a:r>
              <a:rPr lang="en-US" sz="2400" b="1" dirty="0"/>
              <a:t>Clustered Bar chart </a:t>
            </a:r>
            <a:endParaRPr lang="en-IN" sz="2400" b="1" dirty="0"/>
          </a:p>
        </p:txBody>
      </p:sp>
      <p:sp>
        <p:nvSpPr>
          <p:cNvPr id="8" name="TextBox 7">
            <a:extLst>
              <a:ext uri="{FF2B5EF4-FFF2-40B4-BE49-F238E27FC236}">
                <a16:creationId xmlns:a16="http://schemas.microsoft.com/office/drawing/2014/main" id="{40CBB7D4-5221-9A4F-BF13-2558C35AFCB4}"/>
              </a:ext>
            </a:extLst>
          </p:cNvPr>
          <p:cNvSpPr txBox="1"/>
          <p:nvPr/>
        </p:nvSpPr>
        <p:spPr>
          <a:xfrm>
            <a:off x="5151891" y="1818516"/>
            <a:ext cx="6843464" cy="4247317"/>
          </a:xfrm>
          <a:prstGeom prst="rect">
            <a:avLst/>
          </a:prstGeom>
          <a:noFill/>
        </p:spPr>
        <p:txBody>
          <a:bodyPr wrap="square" rtlCol="0">
            <a:spAutoFit/>
          </a:bodyPr>
          <a:lstStyle/>
          <a:p>
            <a:pPr marL="285750" indent="-285750">
              <a:buFont typeface="Arial" panose="020B0604020202020204" pitchFamily="34" charset="0"/>
              <a:buChar char="•"/>
            </a:pPr>
            <a:r>
              <a:rPr lang="en-US" dirty="0"/>
              <a:t>This bar chart compares the total transaction amounts across different merchant states. It helps identify which state contributes the highest transaction value, with Washington(WA) leading among all states.</a:t>
            </a:r>
          </a:p>
          <a:p>
            <a:pPr marL="285750" indent="-285750">
              <a:buFont typeface="Arial" panose="020B0604020202020204" pitchFamily="34" charset="0"/>
              <a:buChar char="•"/>
            </a:pPr>
            <a:r>
              <a:rPr lang="en-US" dirty="0"/>
              <a:t>Here WA(Washington) has the highest total transaction amount</a:t>
            </a:r>
          </a:p>
          <a:p>
            <a:pPr marL="285750" indent="-285750">
              <a:buFont typeface="Arial" panose="020B0604020202020204" pitchFamily="34" charset="0"/>
              <a:buChar char="•"/>
            </a:pPr>
            <a:r>
              <a:rPr lang="en-US" dirty="0"/>
              <a:t>WI(Wisconsin) has the second highest transaction amount</a:t>
            </a:r>
          </a:p>
          <a:p>
            <a:pPr marL="285750" indent="-285750">
              <a:buFont typeface="Arial" panose="020B0604020202020204" pitchFamily="34" charset="0"/>
              <a:buChar char="•"/>
            </a:pPr>
            <a:r>
              <a:rPr lang="en-US" dirty="0"/>
              <a:t>WV(West Virginia) and VT(Vermont) have much lower transaction amounts</a:t>
            </a:r>
          </a:p>
          <a:p>
            <a:pPr marL="285750" indent="-285750">
              <a:buFont typeface="Arial" panose="020B0604020202020204" pitchFamily="34" charset="0"/>
              <a:buChar char="•"/>
            </a:pPr>
            <a:r>
              <a:rPr lang="en-US" dirty="0"/>
              <a:t>From this chart we clearly compare total transaction amount between different merchant states.</a:t>
            </a:r>
          </a:p>
          <a:p>
            <a:pPr marL="285750" indent="-285750">
              <a:buFont typeface="Arial" panose="020B0604020202020204" pitchFamily="34" charset="0"/>
              <a:buChar char="•"/>
            </a:pPr>
            <a:r>
              <a:rPr lang="en-US" dirty="0"/>
              <a:t>And also we understand how transaction revenue is distributed across different states.</a:t>
            </a:r>
          </a:p>
          <a:p>
            <a:endParaRPr lang="en-US" dirty="0"/>
          </a:p>
          <a:p>
            <a:endParaRPr lang="en-US" dirty="0"/>
          </a:p>
          <a:p>
            <a:endParaRPr lang="en-IN" dirty="0"/>
          </a:p>
        </p:txBody>
      </p:sp>
      <p:sp>
        <p:nvSpPr>
          <p:cNvPr id="2" name="TextBox 1">
            <a:extLst>
              <a:ext uri="{FF2B5EF4-FFF2-40B4-BE49-F238E27FC236}">
                <a16:creationId xmlns:a16="http://schemas.microsoft.com/office/drawing/2014/main" id="{E23F52FA-091C-D359-7299-E9A6611F4D24}"/>
              </a:ext>
            </a:extLst>
          </p:cNvPr>
          <p:cNvSpPr txBox="1"/>
          <p:nvPr/>
        </p:nvSpPr>
        <p:spPr>
          <a:xfrm>
            <a:off x="1219200" y="727587"/>
            <a:ext cx="6605783" cy="369332"/>
          </a:xfrm>
          <a:prstGeom prst="rect">
            <a:avLst/>
          </a:prstGeom>
          <a:noFill/>
        </p:spPr>
        <p:txBody>
          <a:bodyPr wrap="none" rtlCol="0">
            <a:spAutoFit/>
          </a:bodyPr>
          <a:lstStyle/>
          <a:p>
            <a:r>
              <a:rPr lang="en-US" b="1" dirty="0"/>
              <a:t>Q. Which merchant state has the highest total transaction amount?</a:t>
            </a:r>
            <a:endParaRPr lang="en-IN" b="1" dirty="0"/>
          </a:p>
        </p:txBody>
      </p:sp>
    </p:spTree>
    <p:extLst>
      <p:ext uri="{BB962C8B-B14F-4D97-AF65-F5344CB8AC3E}">
        <p14:creationId xmlns:p14="http://schemas.microsoft.com/office/powerpoint/2010/main" val="23943110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C8C853-93A3-6407-6635-0FFA47C0FDB1}"/>
              </a:ext>
            </a:extLst>
          </p:cNvPr>
          <p:cNvSpPr txBox="1"/>
          <p:nvPr/>
        </p:nvSpPr>
        <p:spPr>
          <a:xfrm>
            <a:off x="4513005" y="806245"/>
            <a:ext cx="2939845" cy="461665"/>
          </a:xfrm>
          <a:prstGeom prst="rect">
            <a:avLst/>
          </a:prstGeom>
          <a:noFill/>
        </p:spPr>
        <p:txBody>
          <a:bodyPr wrap="square" rtlCol="0">
            <a:spAutoFit/>
          </a:bodyPr>
          <a:lstStyle/>
          <a:p>
            <a:pPr algn="ctr"/>
            <a:r>
              <a:rPr lang="en-US" sz="2400" b="1" dirty="0"/>
              <a:t>Conclusion</a:t>
            </a:r>
            <a:endParaRPr lang="en-IN" sz="2400" b="1" dirty="0"/>
          </a:p>
        </p:txBody>
      </p:sp>
      <p:sp>
        <p:nvSpPr>
          <p:cNvPr id="3" name="TextBox 2">
            <a:extLst>
              <a:ext uri="{FF2B5EF4-FFF2-40B4-BE49-F238E27FC236}">
                <a16:creationId xmlns:a16="http://schemas.microsoft.com/office/drawing/2014/main" id="{D9F251E6-FC25-9A5C-E709-EAF2EBE91117}"/>
              </a:ext>
            </a:extLst>
          </p:cNvPr>
          <p:cNvSpPr txBox="1"/>
          <p:nvPr/>
        </p:nvSpPr>
        <p:spPr>
          <a:xfrm>
            <a:off x="840782" y="1710813"/>
            <a:ext cx="10584302" cy="3139321"/>
          </a:xfrm>
          <a:prstGeom prst="rect">
            <a:avLst/>
          </a:prstGeom>
          <a:noFill/>
        </p:spPr>
        <p:txBody>
          <a:bodyPr wrap="square" rtlCol="0">
            <a:spAutoFit/>
          </a:bodyPr>
          <a:lstStyle/>
          <a:p>
            <a:r>
              <a:rPr lang="en-US" dirty="0"/>
              <a:t>This project analyzed users, cards, and transaction data using the power BI to gain a comprehensive view of financial activity. The users _ data provided insights into customer profiles, including age, income, debt, and credit score, helping to understand the overall financial health of users. The cards _ data helped analyze card distribution by brand and type, credit limits, and security indicators such as cards flagged on the dark web. The transaction _ data enabled analysis of transaction volume and state-wise spending patterns, highlighting regions with higher and lower transaction activity.</a:t>
            </a:r>
          </a:p>
          <a:p>
            <a:r>
              <a:rPr lang="en-US" dirty="0"/>
              <a:t>                By integrating these three datasets, the power BI dashboards presented key summary metrics and comparisons through clear visualizations such as cards, bar charts, line charts, tables, and slicers. The analysis shows variations in customer behavior, card usage, and regional transaction performance. Overall, this project demonstrates how power BI can effectively transform raw financial data into meaningful insights that support better understanding, monitoring, and data-driven decision-making.</a:t>
            </a:r>
            <a:endParaRPr lang="en-IN" dirty="0"/>
          </a:p>
        </p:txBody>
      </p:sp>
    </p:spTree>
    <p:extLst>
      <p:ext uri="{BB962C8B-B14F-4D97-AF65-F5344CB8AC3E}">
        <p14:creationId xmlns:p14="http://schemas.microsoft.com/office/powerpoint/2010/main" val="17327240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B548AF-B205-B25D-549A-030719011BB2}"/>
              </a:ext>
            </a:extLst>
          </p:cNvPr>
          <p:cNvSpPr txBox="1"/>
          <p:nvPr/>
        </p:nvSpPr>
        <p:spPr>
          <a:xfrm>
            <a:off x="4272116" y="2413337"/>
            <a:ext cx="3647768" cy="1015663"/>
          </a:xfrm>
          <a:prstGeom prst="rect">
            <a:avLst/>
          </a:prstGeom>
          <a:noFill/>
        </p:spPr>
        <p:txBody>
          <a:bodyPr wrap="square" rtlCol="0">
            <a:spAutoFit/>
          </a:bodyPr>
          <a:lstStyle/>
          <a:p>
            <a:r>
              <a:rPr lang="en-US" sz="6000" b="1" dirty="0"/>
              <a:t>Thank You</a:t>
            </a:r>
            <a:endParaRPr lang="en-IN" sz="6000" b="1" dirty="0"/>
          </a:p>
        </p:txBody>
      </p:sp>
    </p:spTree>
    <p:extLst>
      <p:ext uri="{BB962C8B-B14F-4D97-AF65-F5344CB8AC3E}">
        <p14:creationId xmlns:p14="http://schemas.microsoft.com/office/powerpoint/2010/main" val="266250445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{E50AAB39-171E-4E07-A4F9-9AAD0EA7E5C3}TFb5ae2469-0bae-4978-b0e0-39dd046150ff9a115ede-a9c3cc5252b0</Template>
  <TotalTime>447</TotalTime>
  <Words>1594</Words>
  <Application>Microsoft Office PowerPoint</Application>
  <PresentationFormat>Widescreen</PresentationFormat>
  <Paragraphs>130</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Wingdings</vt:lpstr>
      <vt:lpstr>Celestial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SRIJA PISKA</dc:creator>
  <cp:lastModifiedBy>SRIJA PISKA</cp:lastModifiedBy>
  <cp:revision>11</cp:revision>
  <dcterms:created xsi:type="dcterms:W3CDTF">2026-02-05T14:24:54Z</dcterms:created>
  <dcterms:modified xsi:type="dcterms:W3CDTF">2026-02-12T10:50:17Z</dcterms:modified>
</cp:coreProperties>
</file>